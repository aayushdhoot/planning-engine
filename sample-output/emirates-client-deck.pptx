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CLIENT ISSUE · CONTRACT BASELINE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81F"/>
                </a:solidFill>
              </a:rPr>
              <a:t>Emirates Mumbai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Emirates Airlines  ·  Commerz III, Oberoi Realty, Goregaon East, Mumbai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FFF"/>
                </a:solidFill>
              </a:rPr>
              <a:t>Project Programme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</a:rPr>
              <a:t>DnB Planning Engine v1.0.0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Programme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746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5720" cy="1005840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33272"/>
            <a:ext cx="24917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COMMENCEMENT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252728"/>
            <a:ext cx="24917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2025-06-23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268980" y="960120"/>
            <a:ext cx="26746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68980" y="960120"/>
            <a:ext cx="45720" cy="1005840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10" name="Text 8"/>
          <p:cNvSpPr/>
          <p:nvPr/>
        </p:nvSpPr>
        <p:spPr>
          <a:xfrm>
            <a:off x="3406140" y="1033272"/>
            <a:ext cx="24917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CONTRACT COMPLETION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06140" y="1252728"/>
            <a:ext cx="24917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2026-02-23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06140" y="1618488"/>
            <a:ext cx="24917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</a:rPr>
              <a:t>per agreement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960120"/>
            <a:ext cx="26746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960120"/>
            <a:ext cx="45720" cy="1005840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033272"/>
            <a:ext cx="24917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AREA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17920" y="1252728"/>
            <a:ext cx="24917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33,000 sft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892540" y="960120"/>
            <a:ext cx="26746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92540" y="960120"/>
            <a:ext cx="45720" cy="1005840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029700" y="1033272"/>
            <a:ext cx="24917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CONTRACT VALUE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029700" y="1252728"/>
            <a:ext cx="24917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INR 23,95,00,000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029700" y="1618488"/>
            <a:ext cx="24917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</a:rPr>
              <a:t>excl. taxes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4712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Completion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Construction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Payment milestones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731520"/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Target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Value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Scope covered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Mobilisation, kick-off and PO release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2025-08-22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3,59,25,000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 freeze, liaisoning approvals (BMC, Fire NOC), site mobilisation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4,79,00,000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Civil, dry-wall partitions, MEP first fix, raceways and conduiting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5,98,75,000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Ceilings, flooring, second fix MEP, glass partitions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5,98,75,000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Painting, wall finishes, modular furniture, commissioning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3,59,25,000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Snagging, deep cleaning, handover and close-out documents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What we need from you — client &amp; builder inputs (1/2)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645920"/>
                <a:gridCol w="5120640"/>
                <a:gridCol w="20116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Required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Kick Off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kick-off meeting and pooja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Client/FS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Commercial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PO / signed agreement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Commercial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advance payment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Layout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 approvals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 sampling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Client/FS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drawings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Client/PMC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/ IT requirement and load confirmation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 permissions and mobilisation clearance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FS/Builder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Mathadi clearance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NOC / CFO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FS/Builder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BMC / statutory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FS/Builder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What we need from you — client &amp; builder inputs (2/2)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645920"/>
                <a:gridCol w="5120640"/>
                <a:gridCol w="20116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Required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Temporary power and water availability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Lift availability for material movement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Work hours clarity in building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Heat load approval / CFM availability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Wi-Fi and access point locations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vendor closure for site marking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Design/Operation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Client-supplied items (IT / AV) delivery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Store space and debris removal 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deliverables — approval dates (1/7)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Base Build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 Dimensions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Marking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Raised Flooring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Door Schedule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Wall Finishes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RCP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Lighting Layout (with dimensions)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Wallpaper &amp; Graphics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Evacuation Plan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deliverables — approval dates (2/7)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 Views — Detailed &amp; Client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SLD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Load Calculation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Power, Data &amp; Switch Board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Raceway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Cable Tray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Lighting Looping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Panel &amp; DB Position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UPS Calculation &amp; Specification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Heat Load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PHE DBR &amp; Plumbing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deliverables — approval dates (3/7)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Sprinkler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FA / PA System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ACS / CCTV / WiFi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deliverables — approval dates (4/7)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deliverables — approval dates (5/7)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Demountable Glass Partition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Backpainted Glass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deliverables — approval dates (6/7)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Switch Sockets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Decorative Lights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Sanitary Fixtures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Chairs &amp; Loose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Blinds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Skirting &amp; T Profile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 — Civil &amp; Interior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 — Soft Cost (furniture &amp; furnishing)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deliverables — approval dates (7/7)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2025-10-09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Procurement — delivery dates required on site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237744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Package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Delivery required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&amp; Interior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Soft Cost (furniture &amp; furnishing)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2025-12-22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Wet Works (PHE)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Passive Networking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Fighting and Safety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UPS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Surveillance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Miscellaneous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2025-07-18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Billing milestones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219456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2025-06-23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0%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2025-08-22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2025-10-11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2025-11-30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2026-01-14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2026-02-23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2026-07-29T17:18:47Z</dcterms:created>
  <dcterms:modified xsi:type="dcterms:W3CDTF">2026-07-29T17:18:47Z</dcterms:modified>
</cp:coreProperties>
</file>