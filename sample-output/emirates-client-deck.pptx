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CLIENT ISSUE · CONTRACT BASELINE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181F"/>
                </a:solidFill>
              </a:rPr>
              <a:t>Emirates Mumbai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</a:rPr>
              <a:t>Emirates Airlines  ·  Commerz III, Oberoi Realty, Goregaon East, Mumbai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FFF"/>
                </a:solidFill>
              </a:rPr>
              <a:t>Project Programme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6217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</a:rPr>
              <a:t>DnB Planning Engine v1.0.0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Programme at a glance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COMMENCEMENT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9436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2025-06-23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326898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6898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10" name="Text 8"/>
          <p:cNvSpPr/>
          <p:nvPr/>
        </p:nvSpPr>
        <p:spPr>
          <a:xfrm>
            <a:off x="340614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COMPLETION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40614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2026-02-23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406140" y="1618488"/>
            <a:ext cx="24917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per agreement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608076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8076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15" name="Text 13"/>
          <p:cNvSpPr/>
          <p:nvPr/>
        </p:nvSpPr>
        <p:spPr>
          <a:xfrm>
            <a:off x="621792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AREA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621792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33,000 sft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89254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89254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19" name="Text 17"/>
          <p:cNvSpPr/>
          <p:nvPr/>
        </p:nvSpPr>
        <p:spPr>
          <a:xfrm>
            <a:off x="902970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VALUE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902970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INR 23,95,00,000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9029700" y="1618488"/>
            <a:ext cx="24917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excl. taxes</a:t>
            </a:r>
            <a:endParaRPr lang="en-US" sz="8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11247120" cy="914400"/>
        </p:xfrm>
        <a:graphic>
          <a:graphicData uri="http://schemas.openxmlformats.org/drawingml/2006/table">
            <a:tbl>
              <a:tblPr/>
              <a:tblGrid>
                <a:gridCol w="576072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Completion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Payment milestones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371600"/>
                <a:gridCol w="731520"/>
                <a:gridCol w="1645920"/>
                <a:gridCol w="6583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Target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Value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Scope covered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Mobilisation, kick-off and PO release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2025-08-22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3,59,25,000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freeze, liaisoning approvals (BMC, Fire NOC), site mobilisation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4,79,00,000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Civil, dry-wall partitions, MEP first fix, raceways and conduiting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5,98,75,000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Ceilings, flooring, second fix MEP, glass 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5,98,75,000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Painting, wall finishes, modular furniture,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3,59,25,000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Snagging, deep cleaning, handover and close-out documents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What we need from you — client &amp; builder inputs (1/2)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645920"/>
                <a:gridCol w="5120640"/>
                <a:gridCol w="20116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Required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Kick 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kick-off meeting and pooja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PO / signed agreement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advance payment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Layout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approvals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 sampling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drawings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Client/PMC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/ IT requirement and load confirmation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 permissions and mobilisation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Mathadi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NOC / CFO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BMC / statutory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What we need from you — client &amp; builder inputs (2/2)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645920"/>
                <a:gridCol w="5120640"/>
                <a:gridCol w="20116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Required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 and water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Lift availability for material movement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Work hours clarity in building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Heat load approval / CFM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Wi-Fi and access point locations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vendor closure for site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Design/Operation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Client-supplied items (IT / AV)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Store space and debris removal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(1/7)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Base Build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Dimensions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Marking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Raised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 Schedule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 Finishes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RCP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Layout (with dimensions)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Wallpaper &amp; Graphics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Evacuation Plan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(2/7)</a:t>
            </a:r>
            <a:endParaRPr lang="en-US" sz="2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Views — Detailed &amp; Client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SLD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Load Calculation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Power, Data &amp; Switch Board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Cable Tray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Looping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Panel &amp; DB Position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 Calculation &amp; Specification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Heat Load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DBR &amp; Plumbing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(3/7)</a:t>
            </a:r>
            <a:endParaRPr lang="en-US" sz="2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/ PA System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ACS / CCTV / WiFi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(4/7)</a:t>
            </a:r>
            <a:endParaRPr lang="en-US" sz="2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(5/7)</a:t>
            </a:r>
            <a:endParaRPr lang="en-US" sz="2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Demountable 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Backpainted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(6/7)</a:t>
            </a:r>
            <a:endParaRPr lang="en-US" sz="2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Switch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Decorative Lights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Chairs &amp;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Skirting &amp; T Profile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Civil &amp; Interior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Soft Cost (furniture &amp; furnishing)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(7/7)</a:t>
            </a:r>
            <a:endParaRPr lang="en-US" sz="2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delivery dates required on site</a:t>
            </a:r>
            <a:endParaRPr lang="en-US" sz="2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0"/>
                <a:gridCol w="2377440"/>
                <a:gridCol w="2468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Package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&amp; Interior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Soft Cost (furniture &amp; furnishing)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Wet Works (PHE)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Fighting and Safety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Surveillance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Miscellaneous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Billing milestones</a:t>
            </a:r>
            <a:endParaRPr lang="en-US" sz="2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108960"/>
                <a:gridCol w="2194560"/>
                <a:gridCol w="4114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2025-08-22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2026-07-29T17:00:09Z</dcterms:created>
  <dcterms:modified xsi:type="dcterms:W3CDTF">2026-07-29T17:00:09Z</dcterms:modified>
</cp:coreProperties>
</file>