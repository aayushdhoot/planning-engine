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INTERNAL — NOT FOR CLIENT ISSUE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Emirates Mumbai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Emirates Airlines  ·  Commerz III, Oberoi Realty, Goregaon East, Mumbai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121F"/>
                </a:solidFill>
              </a:rPr>
              <a:t>Execution Plan  ·  confidence 88%  ·  norms norms-v1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INTERNAL TARGET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2026-02-22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245 wd (CPM)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FINISH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6888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2026-02-23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BUFFER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4340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1d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4340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invariant holds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CRITICAL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7 / 216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1792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zero float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5528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PEAK MANPOWER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244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130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09244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2026-01-15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829800" y="960120"/>
            <a:ext cx="1737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0" y="1033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MARGIN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966960" y="1252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47.3%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966960" y="16184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6 RA milestones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2103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</a:rPr>
              <a:t>Confidence basis: 8/9 inputs provided; 2/10 packages unmapped; buffer 1d.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4712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194560"/>
                <a:gridCol w="219456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On critical path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Critical path — 7 activities, zero float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029200"/>
                <a:gridCol w="1463040"/>
                <a:gridCol w="822960"/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 Supply and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Branding (Logo)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exit signages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maps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extinguishers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(1/14)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 Period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Waterproofing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Pest Control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Self Leveling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Blockwork/RCC Lintel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Plastering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POP Punning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PCC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Modifoam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e139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Line out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Line out Checking &amp;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Engineered Concrete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Framing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Single side single skinning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Insulation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(2/14)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Clearance from Services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Second side single skinning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Modular Glazed Partitions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glass partitions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glass for glazed 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Sliding Folding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curved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solid flush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Fire Rated Metal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Switchable smart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e158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Fire Rated Metal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Raised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of Raised Access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Fixing of Pedestals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Fixing of Raised Flooring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Cutout for power/data entrys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(3/14)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Alignment of Raised Access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e169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Vitrified Tiling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Protection Covering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Marble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Stone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Wooden raised flooring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Epoxy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GI Framing for gypsum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Gypsum boarding &amp; joint finishing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e179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Cafeteria Decorative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Metal Fabricated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Designer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Grid Tiles and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Framing for Grid Tile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Grid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(4/14)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Tiles and frames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Framing for Tile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e189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technogrid Tiles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Ply Framing for stretch ceiling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stretch ceiling material on site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Stretch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Putty application (walls)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Primer application &amp; sanding works (walls)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1st coat paint (walls)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e199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2nd &amp; 3rd coat paint (walls)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Epoxy Paint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Putty application (ceiling)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Primer application &amp; sanding works (ceiling)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1st coat paint (ceiling)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2nd &amp; 3rd coat paint (ceiling)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Putty application (metallic)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(5/14)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Primer application &amp; sanding works (metallic)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1st coat paint (metallic)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2nd &amp; 3rd coat paint (metallic)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Putty application (stucco)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Primer application &amp; sanding works (stucco)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1st coat paint (stucco)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2nd &amp; 3rd coat paint (stucco)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paper base preparation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Reception Table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CCM Cabin Table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Board Room Table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Built-In Furniture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Acrylic Designer wall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 Counter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Ledge Seating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Pelmet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(6/14)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Corner Guard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Transition Profile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Dado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Vertical Garden/Planters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Fluted Panel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Lacquered Glass Panelling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Film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of plumbing lines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e239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Waterproofing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BBC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Pipes Installation (supply)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Fittings Installation (supply)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Pipes Installation (drainage)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(7/14)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Fittings Installation (drainage)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Pumps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e249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Plumbing Line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Lighting work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 marking in closed room 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 for Raw Power, UPS, lighting, 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 box fixing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Wiring for light circuits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Wiring for Power Circuits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e259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of floor raceway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Support fixing for raceway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for ceiling cable tray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Support fixing for cable tray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floor Raceway for Power &amp; Data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cable tray for IT/Data/Electrical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(8/14)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Junction, GI Boxes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for 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for earthing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e269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dressing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DBs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DB Dressing and Termination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LT Panels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LT Panels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Testing and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Battery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e279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Battery Systems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Battery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Switches, Raw Power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(9/14)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recessed lights in closed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suspended light fixtures in w/s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Decorative 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e289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Electrical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&amp; Support fixing of Ducts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Ducts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Insulation for ducts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Grills, Diffusers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VAVs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AHU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AHU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fire Dampers, actuators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e299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 insulation of AHU 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damper control panels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AHU dry run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trays Installation for copper piping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(10/14)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Copper piping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Drain Piping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VRF units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HVAC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Precision Air Conditioners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Precision Air Conditioners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&amp; supports fixing for fire pipes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Modification of existing fire pipes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Modification of existing sprinkler bulbs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Erection of MS sprinkler pipes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Enamel painting of pipes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Flexible pipes installation for below false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Pendent, Upright sprinkler bulbs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sprinkler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Cabling on 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Cabling on walls/partitions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(11/14)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Multi Sensor Detectors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detectors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RI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Modules/MCP/Strobes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FA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 cabling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Speakers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Commissioning of PA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 &amp; Installation of raceways (ACS)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(ACS/CCTV)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ACS &amp; CCTV devices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and commisioning of ACS &amp; CCTV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61d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e339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 &amp; Installation of Raceway (WLD)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(WLD)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WLD Devices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and commissioning of WLD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(12/14)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 &amp; Installation of Raceway (Rodent)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Cabling (Rodent)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Rodent Repelent Devices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and commissioning of Rodent Repelent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e349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Gas Based Supression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Gas Based Supression System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and commissioning (gas suppression)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39d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laying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I/O port terminations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Fiber Cables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Backbone Cables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Network Racks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e359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Server Room Readiness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Network Rack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and Commissioning (networking)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(13/14)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Cabling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Systems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AV Systems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White Goods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e369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White Goods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Marking of workstations, meeting room tables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Workstation frame, meeting room table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Routing of power, data cables &amp; socket fixing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Fixing of table top, panels for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Alignment of workstations, meeting room tables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Measurement for Modular Cubicle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Cubicle Material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e379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Cubicle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Delivery of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&amp; Installation of Lockers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of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Full activity schedule with float (14/14)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194560"/>
                <a:gridCol w="731520"/>
                <a:gridCol w="137160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Activity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Finish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Float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Supply of Chairs Materials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Installation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 Supply and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Branding (Logo)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exit signages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e391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maps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e389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extinguishers Installation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(1/7)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(2/7)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(3/7)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(4/7)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(5/7)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(6/7)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tracker — GFC / MEP / Sampling (7/7)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3566160"/>
                <a:gridCol w="1188720"/>
                <a:gridCol w="1097280"/>
                <a:gridCol w="1097280"/>
                <a:gridCol w="100584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Drawing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Ready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(INT)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 (client)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order-by and delivery required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280160"/>
                <a:gridCol w="1188720"/>
                <a:gridCol w="1463040"/>
                <a:gridCol w="11887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Sub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Order 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Gated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 (client approval 2025-09-25)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 (client approval 2025-12-23)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 (client approval 2025-10-23)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 (client approval 2025-10-30)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Wet Works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 (client approval 2025-10-13)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 (client approval 2025-11-20)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Fighting and Safety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 (client approval 2025-10-12)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Surveillance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Miscellaneous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default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Manpower — levelled contractor gangs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188720"/>
                <a:gridCol w="1463040"/>
                <a:gridCol w="14630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Trade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From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To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Man-days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Core gang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Peak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1232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942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245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2116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1080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360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1088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sprinkler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billing milestones — readiness against site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MILESTONES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20624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CLAUSES TRACKED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4340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24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55280" y="960120"/>
            <a:ext cx="36118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960120"/>
            <a:ext cx="45720" cy="100584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103327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92440" y="125272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23,95,00,000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3,59,25,000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4,79,00,000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5,98,75,000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5,98,75,000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3,59,25,000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(1/2)</a:t>
            </a:r>
            <a:endParaRPr lang="en-US" sz="2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Kick-off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 release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freeze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Liaisoning approvals (BMC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Dry-wall 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first fix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Conduiting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Second fix 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Glass 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RA milestone clauses — what must be true before billing (2/2)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5669280"/>
                <a:gridCol w="17373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Kind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Clause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Snagging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Deep cleaning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Close-out documents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Resource plan</a:t>
            </a:r>
            <a:endParaRPr lang="en-US" sz="2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91440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Role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Count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Basis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Manager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 (Civil/Interior)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12000)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25000)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 Owner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40000)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Safety Officer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QC / Snag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ceil(33000 sft / 30000) per norms-v1:resourceRoleNorms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(1/8)</a:t>
            </a:r>
            <a:endParaRPr lang="en-US" sz="2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resource allocation confirmed (PM, site engineer, MEP, design, procurement)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tool creation — tracker, folder structure and access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 WhatsApp group creation with the agreed participants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Wispr onboarding for the project team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Welcome email issued to the client with team and escalation matrix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verification against the GFC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Building permissions, gate pass and work permits obtained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Day-0 site photographs and dilapidation record filed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marking completed and signed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Labour onboarding, ID cards and safety induction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head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Kick-off meeting with the client and consultants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engineer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power, water and site lighting arranged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Miscellaneous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(2/8)</a:t>
            </a:r>
            <a:endParaRPr lang="en-US" sz="2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Fire Fighting and Safety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Wet Works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(3/8)</a:t>
            </a:r>
            <a:endParaRPr lang="en-US" sz="2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(4/8)</a:t>
            </a:r>
            <a:endParaRPr lang="en-US" sz="2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(5/8)</a:t>
            </a:r>
            <a:endParaRPr lang="en-US" sz="2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(6/8)</a:t>
            </a:r>
            <a:endParaRPr lang="en-US" sz="2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(7/8)</a:t>
            </a:r>
            <a:endParaRPr lang="en-US" sz="2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PO: 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To-do list — next 21 days (8/8)</a:t>
            </a:r>
            <a:endParaRPr lang="en-US" sz="2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502920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End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Priority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TD — 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lead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Issue for approval: 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(1/2)</a:t>
            </a:r>
            <a:endParaRPr lang="en-US" sz="2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Client / builder open points (2/2)</a:t>
            </a:r>
            <a:endParaRPr lang="en-US" sz="22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554480"/>
                <a:gridCol w="4572000"/>
                <a:gridCol w="18288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Plan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Assumptions, gaps and risks</a:t>
            </a:r>
            <a:endParaRPr lang="en-US" sz="2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9552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Note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Visibility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carpentry: 1920 man-days across 115 working days needs 17 workers, above the 16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electrical: 1810 man-days across 111 working days needs 17 workers, above the 14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general: 2116 man-days across 245 working days needs 9 workers, above the 8 cap. Extend the window, split the front, or raise the cap in Settings.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Manpower curve is peaky (average 62 vs peak 130). Consider re-sequencing overlapping trades.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"UPS"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procurement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Package "Surveillance" has no mapped site activity; order-by date not computed.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internal only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2026-07-30T08:11:16Z</dcterms:created>
  <dcterms:modified xsi:type="dcterms:W3CDTF">2026-07-30T08:11:16Z</dcterms:modified>
</cp:coreProperties>
</file>