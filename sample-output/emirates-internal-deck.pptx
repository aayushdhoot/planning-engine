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notesMasterIdLst>
    <p:notesMasterId r:id="rId3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notesMaster" Target="notesMasters/notesMaster1.xml"/><Relationship Id="rId37" Type="http://schemas.openxmlformats.org/officeDocument/2006/relationships/presProps" Target="presProps.xml"/><Relationship Id="rId38" Type="http://schemas.openxmlformats.org/officeDocument/2006/relationships/viewProps" Target="viewProps.xml"/><Relationship Id="rId39" Type="http://schemas.openxmlformats.org/officeDocument/2006/relationships/theme" Target="theme/theme1.xml"/><Relationship Id="rId4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38404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INTERNAL — NOT FOR CLIENT ISSUE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48640" y="17373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4181F"/>
                </a:solidFill>
              </a:rPr>
              <a:t>Emirates Mumbai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2"/>
                </a:solidFill>
              </a:rPr>
              <a:t>Emirates Airlines  ·  Commerz III, Oberoi Realty, Goregaon East, Mumbai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301752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1121F"/>
                </a:solidFill>
              </a:rPr>
              <a:t>Execution Plan  ·  confidence 88%  ·  norms norms-v1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548640" y="621792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472"/>
                </a:solidFill>
              </a:rPr>
              <a:t>DnB Planning Engine v1.0.0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Position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INTERNAL TARGET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2026-02-22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5943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245 wd (CPM)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233172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33172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1" name="Text 9"/>
          <p:cNvSpPr/>
          <p:nvPr/>
        </p:nvSpPr>
        <p:spPr>
          <a:xfrm>
            <a:off x="246888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FINISH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246888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2026-02-23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420624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5" name="Text 13"/>
          <p:cNvSpPr/>
          <p:nvPr/>
        </p:nvSpPr>
        <p:spPr>
          <a:xfrm>
            <a:off x="434340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BUFFER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434340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1d</a:t>
            </a:r>
            <a:endParaRPr lang="en-US" sz="1700" dirty="0"/>
          </a:p>
        </p:txBody>
      </p:sp>
      <p:sp>
        <p:nvSpPr>
          <p:cNvPr id="17" name="Text 15"/>
          <p:cNvSpPr/>
          <p:nvPr/>
        </p:nvSpPr>
        <p:spPr>
          <a:xfrm>
            <a:off x="434340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invariant holds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608076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08076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0" name="Text 18"/>
          <p:cNvSpPr/>
          <p:nvPr/>
        </p:nvSpPr>
        <p:spPr>
          <a:xfrm>
            <a:off x="621792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CRITICAL</a:t>
            </a:r>
            <a:endParaRPr lang="en-US" sz="800" dirty="0"/>
          </a:p>
        </p:txBody>
      </p:sp>
      <p:sp>
        <p:nvSpPr>
          <p:cNvPr id="21" name="Text 19"/>
          <p:cNvSpPr/>
          <p:nvPr/>
        </p:nvSpPr>
        <p:spPr>
          <a:xfrm>
            <a:off x="621792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7 / 216</a:t>
            </a:r>
            <a:endParaRPr lang="en-US" sz="1700" dirty="0"/>
          </a:p>
        </p:txBody>
      </p:sp>
      <p:sp>
        <p:nvSpPr>
          <p:cNvPr id="22" name="Text 20"/>
          <p:cNvSpPr/>
          <p:nvPr/>
        </p:nvSpPr>
        <p:spPr>
          <a:xfrm>
            <a:off x="621792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zero float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795528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25" name="Text 23"/>
          <p:cNvSpPr/>
          <p:nvPr/>
        </p:nvSpPr>
        <p:spPr>
          <a:xfrm>
            <a:off x="809244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PEAK MANPOWER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809244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130</a:t>
            </a:r>
            <a:endParaRPr lang="en-US" sz="1700" dirty="0"/>
          </a:p>
        </p:txBody>
      </p:sp>
      <p:sp>
        <p:nvSpPr>
          <p:cNvPr id="27" name="Text 25"/>
          <p:cNvSpPr/>
          <p:nvPr/>
        </p:nvSpPr>
        <p:spPr>
          <a:xfrm>
            <a:off x="809244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2026-01-15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9829800" y="960120"/>
            <a:ext cx="1737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98298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0" name="Text 28"/>
          <p:cNvSpPr/>
          <p:nvPr/>
        </p:nvSpPr>
        <p:spPr>
          <a:xfrm>
            <a:off x="9966960" y="1033272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MARGIN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9966960" y="1252728"/>
            <a:ext cx="1554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47.3%</a:t>
            </a:r>
            <a:endParaRPr lang="en-US" sz="1700" dirty="0"/>
          </a:p>
        </p:txBody>
      </p:sp>
      <p:sp>
        <p:nvSpPr>
          <p:cNvPr id="32" name="Text 30"/>
          <p:cNvSpPr/>
          <p:nvPr/>
        </p:nvSpPr>
        <p:spPr>
          <a:xfrm>
            <a:off x="9966960" y="1618488"/>
            <a:ext cx="1554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5A6472"/>
                </a:solidFill>
              </a:rPr>
              <a:t>6 RA milestones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57200" y="210312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2"/>
                </a:solidFill>
              </a:rPr>
              <a:t>Confidence basis: 8/9 inputs provided; 2/10 packages unmapped; buffer 1d.</a:t>
            </a:r>
            <a:endParaRPr lang="en-US" sz="10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468880"/>
          <a:ext cx="11247120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194560"/>
                <a:gridCol w="21945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On critical path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YES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Critical path — 7 activities, zero float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5029200"/>
                <a:gridCol w="1463040"/>
                <a:gridCol w="822960"/>
                <a:gridCol w="1600200"/>
                <a:gridCol w="16002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(1/14)</a:t>
            </a:r>
            <a:endParaRPr lang="en-US" sz="22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 Period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Pest Control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Self Leveling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Blockwork/RCC Lintel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Plastering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POP Punning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PCC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Modifoam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Line out Checking &amp;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Engineered Concrete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Single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(2/14)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Clearance from Services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side single skinning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Modular Glazed Partitions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partitions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glass for glazed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Sliding Folding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curved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solid flush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Switchable smart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Rated Metal Doors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Raised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Pedestals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Raised Flooring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Cutout for power/data entrys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(3/14)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Raised Access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Vitrified Tiling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Protection Covering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Marble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Stone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Wooden raised flooring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GI Framing for gypsum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Gypsum boarding &amp; joint finishing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Cafeteria Decorative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Metal Fabricated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Designer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Grid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Grid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(4/14)</a:t>
            </a:r>
            <a:endParaRPr lang="en-US" sz="2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Tiles and frames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Framing for Tile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technogrid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Ply Framing for stretch ceiling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stretch ceiling material on site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e199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(walls)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Epoxy Paint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(ceiling)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(5/14)</a:t>
            </a:r>
            <a:endParaRPr lang="en-US" sz="2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(metallic)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Putty application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Primer application &amp; sanding works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1st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2nd &amp; 3rd coat paint (stucco)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paper base preparation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Reception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CCM Cabin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Board Room Table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Built-In Furniture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Acrylic Designer wall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Service Counter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Ledge Seating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Pelmet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(6/14)</a:t>
            </a:r>
            <a:endParaRPr lang="en-US" sz="2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Corner Guard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Transition Profile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Dado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Vertical Garden/Planters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Fluted Panel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Lacquered Glass Panelling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Film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plumbing lines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Waterproofing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BBC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(supply)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Pipes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(7/14)</a:t>
            </a:r>
            <a:endParaRPr lang="en-US" sz="2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Fittings Installation (drainage)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Pumps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Plumbing Line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Lighting work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 marking in closed room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for Raw Power, UPS, lighting, 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 box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light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Wiring for Power Circuits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floor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raceway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for ceiling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Support fixing for cable tray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floor Raceway for Power &amp; Data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cable tray for IT/Data/Electrical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(8/14)</a:t>
            </a:r>
            <a:endParaRPr lang="en-US" sz="2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Junction, GI Boxes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for earthing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dressing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DB Dressing and Termination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LT Panels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Testing and 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Battery Systems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Battery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Switches, Raw Power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(9/14)</a:t>
            </a:r>
            <a:endParaRPr lang="en-US" sz="22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recessed lights in closed rooms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suspended light fixtures in w/s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Decorative light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Electrical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 fixing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Insulation for ducts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Grills, Diffusers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VAVs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AHU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fire Dampers, actuators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e299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 insulation of AHU room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damper control panels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AHU dry run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trays Installation for copper piping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(10/14)</a:t>
            </a:r>
            <a:endParaRPr lang="en-US" sz="2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Copper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Drain Piping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VRF units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HVAC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Precision Air Conditioners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&amp; supports fixing for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fire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Modification of existing sprinkler bulbs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Erection of MS sprinkler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Enamel painting of pipes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Flexible pipes installation for below false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Pendent, Upright sprinkler bulbs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sprinkler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Cabling on walls/partitions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(11/14)</a:t>
            </a:r>
            <a:endParaRPr lang="en-US" sz="2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Multi Sensor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detectors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RI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Modules/MCP/Strobes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FA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Speakers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&amp; Commissioning of PA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raceways (ACS)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(ACS/CCTV)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ACS &amp; CCTV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commisioning of ACS &amp; CCTV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61d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e339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(WLD)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WLD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WLD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(12/14)</a:t>
            </a:r>
            <a:endParaRPr lang="en-US" sz="22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 &amp; Installation of Raceway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Cabling (Rodent)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Rodent Repelent Devices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of Rodent Repelent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Gas Based Supression System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(gas suppression)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39d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laying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I/O port terminations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Fiber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Backbone Cables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Network Racks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e359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Server Room Readiness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Network Rack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Testing and Commissioning (networking)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(13/14)</a:t>
            </a:r>
            <a:endParaRPr lang="en-US" sz="2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Cabling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AV Systems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e369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White Goods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Marking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Workstation frame, meeting room table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Routing of power, data cables &amp; socket fixing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Fixing of table top, panels for workstations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Alignment of workstations, meeting room tables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Measurement for Modular Cubicle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Material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e379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Cubicle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Delivery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&amp; Installation of Lockers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of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Full activity schedule with float (14/14)</a:t>
            </a:r>
            <a:endParaRPr lang="en-US" sz="220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4023360"/>
                <a:gridCol w="2194560"/>
                <a:gridCol w="731520"/>
                <a:gridCol w="1371600"/>
                <a:gridCol w="13716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#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Activity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Phase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Start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Finish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Float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Supply of Chairs Materials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Installation Chairs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Signages Supply and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Branding (Logo)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exit signages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e391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maps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e389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extinguishers Installation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Construction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(1/4)</a:t>
            </a:r>
            <a:endParaRPr lang="en-US" sz="22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Wallpaper &amp; Graphics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Evacuation Plan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GFC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(2/4)</a:t>
            </a:r>
            <a:endParaRPr lang="en-US" sz="2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(3/4)</a:t>
            </a:r>
            <a:endParaRPr lang="en-US" sz="220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Very Critical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Blinds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Design tracker — GFC / MEP / Sampling (4/4)</a:t>
            </a:r>
            <a:endParaRPr lang="en-US" sz="220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1371600"/>
                <a:gridCol w="3566160"/>
                <a:gridCol w="1188720"/>
                <a:gridCol w="1097280"/>
                <a:gridCol w="1097280"/>
                <a:gridCol w="100584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Drawing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Issue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(INT)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 (client)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SAMPLING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Skirting &amp; T Profile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Low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Not Started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Procurement — order-by and delivery required</a:t>
            </a:r>
            <a:endParaRPr lang="en-US" sz="220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828800"/>
                <a:gridCol w="1280160"/>
                <a:gridCol w="1188720"/>
                <a:gridCol w="1463040"/>
                <a:gridCol w="1188720"/>
                <a:gridCol w="22860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Category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Sub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Criticality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Delivery required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Order 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Gated by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Base Build Layout (client approval 2025-09-25)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Furniture Layout (client approval 2025-12-23)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Lighting Layout (with dimensions) (client approval 2025-10-23)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 DBR (client approval 2025-10-30)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PHE DBR &amp; Plumbing Layout (client approval 2025-10-13)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FA / PA System Layout (client approval 2025-11-20)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Sprinkler Layout (client approval 2025-10-12)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UPS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Surveillance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default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—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Manpower — levelled contractor gangs</a:t>
            </a:r>
            <a:endParaRPr lang="en-US" sz="22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737360"/>
                <a:gridCol w="1737360"/>
                <a:gridCol w="1188720"/>
                <a:gridCol w="1463040"/>
                <a:gridCol w="146304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Trade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From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To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Man-days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Core gang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Peak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942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245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2116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lv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2025-12-24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360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1088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plumbing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sprinkler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billing milestones — readiness against site progress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5720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6" name="Text 4"/>
          <p:cNvSpPr/>
          <p:nvPr/>
        </p:nvSpPr>
        <p:spPr>
          <a:xfrm>
            <a:off x="59436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MILESTONES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59436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6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420624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20624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0" name="Text 8"/>
          <p:cNvSpPr/>
          <p:nvPr/>
        </p:nvSpPr>
        <p:spPr>
          <a:xfrm>
            <a:off x="434340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CLAUSES TRACKED</a:t>
            </a:r>
            <a:endParaRPr lang="en-US" sz="800" dirty="0"/>
          </a:p>
        </p:txBody>
      </p:sp>
      <p:sp>
        <p:nvSpPr>
          <p:cNvPr id="11" name="Text 9"/>
          <p:cNvSpPr/>
          <p:nvPr/>
        </p:nvSpPr>
        <p:spPr>
          <a:xfrm>
            <a:off x="434340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24</a:t>
            </a:r>
            <a:endParaRPr lang="en-US" sz="1700" dirty="0"/>
          </a:p>
        </p:txBody>
      </p:sp>
      <p:sp>
        <p:nvSpPr>
          <p:cNvPr id="12" name="Shape 10"/>
          <p:cNvSpPr/>
          <p:nvPr/>
        </p:nvSpPr>
        <p:spPr>
          <a:xfrm>
            <a:off x="7955280" y="960120"/>
            <a:ext cx="36118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7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955280" y="960120"/>
            <a:ext cx="45720" cy="1005840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14" name="Text 12"/>
          <p:cNvSpPr/>
          <p:nvPr/>
        </p:nvSpPr>
        <p:spPr>
          <a:xfrm>
            <a:off x="8092440" y="1033272"/>
            <a:ext cx="3429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5A6472"/>
                </a:solidFill>
              </a:rPr>
              <a:t>CONTRACT VALUE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092440" y="1252728"/>
            <a:ext cx="3429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181F"/>
                </a:solidFill>
              </a:rPr>
              <a:t>INR 23,95,00,000</a:t>
            </a:r>
            <a:endParaRPr lang="en-US" sz="17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112471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874520"/>
                <a:gridCol w="1874520"/>
                <a:gridCol w="1874520"/>
                <a:gridCol w="1874520"/>
                <a:gridCol w="18745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Due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Amount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4,79,00,000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5,98,75,000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15%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INR 3,59,25,000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(1/2)</a:t>
            </a:r>
            <a:endParaRPr lang="en-US" sz="220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Kick-off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PO release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freeze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Liaisoning approvals (BMC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2025-08-22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mobilisation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2025-07-26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Civil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Dry-wall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first fix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Raceways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Conduiting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Ceilings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Second fix MEP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Glass partitions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RA milestone clauses — what must be true before billing (2/2)</a:t>
            </a:r>
            <a:endParaRPr lang="en-US" sz="22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1280160"/>
                <a:gridCol w="5669280"/>
                <a:gridCol w="1737360"/>
                <a:gridCol w="164592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Kind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Clause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Planned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Painting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Wall finishes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Commissioning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Snagging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Deep cleaning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Handover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RA6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execution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Close-out documents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2026-02-23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Resource plan</a:t>
            </a:r>
            <a:endParaRPr lang="en-US" sz="220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914400"/>
                <a:gridCol w="72237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Role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Count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Basis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Manager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Engineer (Civil/Interior)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12000)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25000)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 Owner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40000)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Safety Officer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QC / Snag Engineer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ceil(33000 sft / 30000) per norms-v1:resourceRoleNorms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(1/4)</a:t>
            </a:r>
            <a:endParaRPr lang="en-US" sz="22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Miscellaneous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2025-09-03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Civil &amp; Interior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Fire Fighting and Safety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Base Build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Wet Works (PHE)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3D Views — Detailed &amp; Client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Electrical Works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Fire Sprinkler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Partition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HVAC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PHE DBR &amp; Plumbing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Sanitary Fixtures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Door Schedule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RCP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Carpentry Laminates &amp; Veneer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(2/4)</a:t>
            </a:r>
            <a:endParaRPr lang="en-US" sz="22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2025-10-09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Grid &amp; Stretch Ceiling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Acoustics / Fluted Panel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Layout (with dimensions)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SLD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Load Calculation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Power, Data &amp; Switch Board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UPS Calculation &amp; Specification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Carpet / SPC Flooring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Decorative Lights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Raised Flooring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Electrical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Raceway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Cable Tray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Lighting Looping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(3/4)</a:t>
            </a:r>
            <a:endParaRPr lang="en-US" sz="2200" dirty="0"/>
          </a:p>
        </p:txBody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Panel &amp; DB Position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and Dado Tiles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Switch Sockets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Floor Marking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Heat Load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HVAC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Passive Networking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Wall Finishes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Paint Shades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FA / PA System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ACS / CCTV / WiFi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LV DBR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Release PO: Soft Cost (furniture &amp; furnishing)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To-do list — next 21 days (4/4)</a:t>
            </a:r>
            <a:endParaRPr lang="en-US" sz="2200" dirty="0"/>
          </a:p>
        </p:txBody>
      </p:sp>
      <p:graphicFrame>
        <p:nvGraphicFramePr>
          <p:cNvPr id="3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2103120"/>
                <a:gridCol w="5029200"/>
                <a:gridCol w="1280160"/>
                <a:gridCol w="146304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End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Priority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Modular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Chairs &amp; Loose Furniture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Furniture Dimensions Layout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Demountable Glass Partition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HIGH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2026-01-01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 lead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Issue for approval: Backpainted Glass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MEDIUM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(1/2)</a:t>
            </a:r>
            <a:endParaRPr lang="en-US" sz="22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Kick Off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Site kick-off meeting and pooja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PO / signed agreement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Commercial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Project advance payment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2025-06-30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Layout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3D approvals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2025-09-30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Material sampling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MEP drawings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Client/PMC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 / IT requirement and load confirmation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 permissions and mobilisation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Mathadi clearance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Fire NOC / CFO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BMC / statutory approval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FS/Builder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2025-09-12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Temporary power and water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14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Lift availability for material movement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15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Work hours clarity in building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Client / builder open points (2/2)</a:t>
            </a:r>
            <a:endParaRPr lang="en-US" sz="22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640080"/>
                <a:gridCol w="1554480"/>
                <a:gridCol w="4572000"/>
                <a:gridCol w="1828800"/>
                <a:gridCol w="1371600"/>
                <a:gridCol w="128016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Description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Responsibility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Plan date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Status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16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Heat load approval / CFM availability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2025-10-17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17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Wi-Fi and access point locations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18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Modular vendor closure for site marking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2025-12-10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19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Design/Operation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Client-supplied items (IT / AV) delivery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Client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2025-11-11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Operation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Store space and debris removal 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Builder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2025-09-23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Delayed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C1121F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4181F"/>
                </a:solidFill>
              </a:rPr>
              <a:t>Assumptions, gaps and risks</a:t>
            </a:r>
            <a:endParaRPr lang="en-US" sz="2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960120"/>
          <a:ext cx="1124712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955280"/>
                <a:gridCol w="18288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Area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Note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5A6472"/>
                          </a:solidFill>
                        </a:rPr>
                        <a:t>Visibility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4F7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carpentry: 1920 man-days across 115 working days needs 17 workers, above the 16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electrical: 1810 man-days across 111 working days needs 17 workers, above the 14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general: 2116 man-days across 245 working days needs 9 workers, above the 8 cap. Extend the window, split the front, or raise the cap in Settings.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Manpower curve is peaky (average 62 vs peak 130). Consider re-sequencing overlapping trades.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"UPS"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procurement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Package "Surveillance" has no mapped site activity; order-by date not computed.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4181F"/>
                          </a:solidFill>
                        </a:rPr>
                        <a:t>internal only</a:t>
                      </a:r>
                      <a:endParaRPr lang="en-US" sz="900" dirty="0"/>
                    </a:p>
                  </a:txBody>
                  <a:tcPr marL="50800" marR="50800" marT="50800" marB="50800">
                    <a:lnL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7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34</Slides>
  <Notes>34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2026-07-29T16:48:39Z</dcterms:created>
  <dcterms:modified xsi:type="dcterms:W3CDTF">2026-07-29T16:48:39Z</dcterms:modified>
</cp:coreProperties>
</file>