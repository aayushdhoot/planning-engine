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245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 / 216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130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2026-01-15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47.3%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8/9 inputs provided; 2/10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7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(1/14)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Blockwork/RCC Lintel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Modifoam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Checking &amp;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Engineered Concrete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(2/14)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Clearance from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Modular Glazed Partitions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partitions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for glazed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Sliding Folding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curved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solid 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Switchable smart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Raised Flooring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Cutout for power/data entrys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(3/14)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Protection Covering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Marble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Stone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Wooden raised flooring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for gypsum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boarding &amp; joint 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Decorative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Fabricated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Grid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Grid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(4/14)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technogrid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Framing for stretch ceiling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stretch ceiling material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(5/14)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paper base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CCM Cabin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Board Room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Built-In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Acrylic Designer wall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 Counter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Ledge Seating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Pelmet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(6/14)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Corner Guard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Transition Profile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Dado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Vertical Garden/Planters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Fluted Panel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Lacquered Glass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plumbing lines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BBC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(7/14)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Pumps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Plumbing Line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Lighting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 marking in closed room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for Raw Power, UPS, lighting, 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box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light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Power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floor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for ceiling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floor Raceway for Power &amp; Data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cable tray for IT/Data/Electrical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(8/14)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Junction, GI Boxes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earthing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dressing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 Dressing and Termination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Testing and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Battery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Switches, Raw Power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(9/14)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recessed lights in closed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suspended light fixtures in w/s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Decorative 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Electrical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 fixing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for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Grills, Diffusers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VAVs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Dampers,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insulation of AHU 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damper control panels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AHU dry run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trays Installation for copper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(10/14)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Copper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Drain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VRF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HVAC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supports fixing for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sprinkler bulbs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Erection of MS sprinkler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Enamel painting of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Flexible pipes installation for below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Pendent, Upright sprinkler bulbs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sprinkler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walls/partitions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(11/14)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Multi Sensor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RI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Modules/MCP/Strobes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FA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Speakers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raceways (ACS)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(ACS/CCTV)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ACS &amp; CCTV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commisioning of ACS &amp; CCTV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WLD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WLD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(12/14)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Rodent Repelent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Rodent Repelent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(gas suppression)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I/O port terminations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Fiber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Backbone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Network Racks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Server Room Readiness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Network Rack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(networking)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(13/14)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Workstation frame, meeting room table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Routing of power, data cables &amp; socket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table top, panels for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Measurement for Modular Cubicle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&amp; Installation of Lockers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(14/14)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Chairs Materials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2025-09-25)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2025-12-23)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2025-10-23)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2025-10-30)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2025-10-13)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2025-11-20)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2025-10-12)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at site — delivery register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MATERIALS TRACKED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79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SHORT ON SITE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78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required date passed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PAST ORDER-BY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78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21792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lead time no longer fits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CLIENT FREE ISSUE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not on our PO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One level below the procurement packages: each material is dated against the activity that consumes it, and carries the vendor or PO that brings it.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(1/6)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AAC blocks / bricks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Cement, sand &amp; aggregate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compound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Self-levelling screed compound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Anti-termite &amp; pest control chemical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Tile adhesive &amp; grout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partition frame — studs &amp; tracks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12.5mm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Glasswool / rockwool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12/18/35mm 710 grade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Hardwood / Matti wood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Laminates &amp; veneer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Hardware — hinges, channels, handles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 grid &amp; boards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/ fire-rated ceiling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(2/6)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/ fluted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Sonedio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putty, primer &amp;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Jotun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Aluminium skirting / T-profile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Bottom Line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glass — toughened / laminated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 frame &amp; profiles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Dorma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Patch fittings, floor springs &amp; locks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Back-painted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Saint Gobain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tiles / broadloom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SPC / vinyl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&amp; ceramic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 panels &amp;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adhesive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Dust mat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Workstations &amp; linear desks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Storage units &amp;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(3/6)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Meeting &amp; conference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Task &amp; visitor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seating &amp; lounge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&amp; distribution boards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MCB / RCCB / switchgear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FRLS copper wires &amp;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conduits, back boxes &amp; accessories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trays, raceways &amp; trunking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switches &amp;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Earthing material &amp; strips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fittings &amp; drivers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Profile &amp; cove lighting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&amp; pendant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&amp; battery bank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(4/6)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CPVC / UPVC pipes &amp; fittings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Sanitaryware — WC, basins, urinals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CP fittings &amp; accessories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cubicle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sheet for ducting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insulation — thermal &amp; acoustic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Grilles, diffusers &amp; volume dampers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VRF / VRV indoor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Outdoor units (ODU)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Refrigerant piping &amp;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Exhaust fans &amp; ventilation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CAT6 / CAT6A cable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Network racks &amp; patch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Face plates, I/O boxes &amp; patch cords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(5/6)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Fibre &amp; OFC accessories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pipes — C-class grooved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heads &amp; flexible drops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detectors, hooters &amp; FAS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 / PAVA system &amp; speakers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CCTV, NVR &amp; access control hardware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Armoured cabling — FAS / PA / CCTV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&amp;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consumables — fasteners, adhesives, hardware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PPE, barricading &amp; site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Scaffolding &amp; access equipment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Housekeeping &amp; debris removal 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 hardware — desktops, laptops, printers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(6/6)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 components — switches, routers, firewall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equipment — VC systems, displays, sound bars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Pantry appliances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loose furniture &amp; artefacts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24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Liaisoning approvals (BMC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Dry-wall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first fix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fix 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(1/8)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(2/8)</a:t>
            </a:r>
            <a:endParaRPr lang="en-US" sz="2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(3/8)</a:t>
            </a:r>
            <a:endParaRPr lang="en-US" sz="2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(4/8)</a:t>
            </a:r>
            <a:endParaRPr lang="en-US" sz="2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(5/8)</a:t>
            </a:r>
            <a:endParaRPr lang="en-US" sz="22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(6/8)</a:t>
            </a:r>
            <a:endParaRPr lang="en-US" sz="22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(7/8)</a:t>
            </a:r>
            <a:endParaRPr lang="en-US" sz="22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(8/8)</a:t>
            </a:r>
            <a:endParaRPr lang="en-US" sz="22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</a:t>
            </a:r>
            <a:endParaRPr lang="en-US" sz="22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1920 man-days across 115 working days needs 17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1810 man-days across 111 working days needs 17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general: 2116 man-days across 245 working days needs 9 workers, above the 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62 vs peak 130).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"Surveillance"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 of 79 site materials cannot be ordered inside the programme as scheduled — their lead times run behind the site start, so they had to be released at award. Longest exposure: Pantry appliances (21d lead, order-by null).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2026-08-05T06:04:27Z</dcterms:created>
  <dcterms:modified xsi:type="dcterms:W3CDTF">2026-08-05T06:04:27Z</dcterms:modified>
</cp:coreProperties>
</file>