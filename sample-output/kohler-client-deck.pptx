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CLIENT ISSUE · CONTRACT BASELINE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81F"/>
                </a:solidFill>
              </a:rPr>
              <a:t>KOHLER OS, Pune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</a:rPr>
              <a:t>Kohler India Corporation Pvt. Ltd.  ·  7th Floor (7A), ITC, Pune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FFF"/>
                </a:solidFill>
              </a:rPr>
              <a:t>Project Programme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</a:rPr>
              <a:t>DnB Planning Engine v1.0.0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Programme at a glance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COMMENCEMENT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2026-07-07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326898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6898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0" name="Text 8"/>
          <p:cNvSpPr/>
          <p:nvPr/>
        </p:nvSpPr>
        <p:spPr>
          <a:xfrm>
            <a:off x="340614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COMPLETION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40614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2026-11-04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406140" y="1618488"/>
            <a:ext cx="24917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per agreement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08076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8076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5" name="Text 13"/>
          <p:cNvSpPr/>
          <p:nvPr/>
        </p:nvSpPr>
        <p:spPr>
          <a:xfrm>
            <a:off x="621792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AREA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21792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14,905 sft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89254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89254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9" name="Text 17"/>
          <p:cNvSpPr/>
          <p:nvPr/>
        </p:nvSpPr>
        <p:spPr>
          <a:xfrm>
            <a:off x="902970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VALUE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902970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INR 5,70,04,000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9029700" y="1618488"/>
            <a:ext cx="24917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excl. taxes</a:t>
            </a:r>
            <a:endParaRPr lang="en-US" sz="8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11247120" cy="914400"/>
        </p:xfrm>
        <a:graphic>
          <a:graphicData uri="http://schemas.openxmlformats.org/drawingml/2006/table">
            <a:tbl>
              <a:tblPr/>
              <a:tblGrid>
                <a:gridCol w="576072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Completion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Survey &amp; Make-Safe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Demolition &amp; Dismantling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Debris Removal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Clearance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Milestone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IT, AV &amp;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Joinery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Toilet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Payment milestones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371600"/>
                <a:gridCol w="731520"/>
                <a:gridCol w="1645920"/>
                <a:gridCol w="6583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Target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Value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Scope covered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ADV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1,71,01,200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mobilisation.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1,14,00,800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Execution: Demolition, partition line marking, frameworks, single-side skinning, civil wall, plastering, plumbing, ceiling and wall electrical conduiting, floor raceway laying. Material delivery: gypsum frames, gypsum sheets, electrical conduits and raceway, siporex blocks. Key order closures: HVAC, fire alarm system, carpentry.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85,50,600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Execution: closing of partitions from double side, electrical wiring, fire sprinkler piping, FAS wiring. Material delivery: duct material, wires/cables, ply for carpentry items, vitrified tiles. Key order closures: modular furniture, chairs, carpets, glass.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85,50,600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Execution: painting base-coat preparation, glass channel, HVAC duct installation, false ceiling framing. Material delivery: carpets, sanitary fittings and fixtures, doors, DB/MCB. Key order closures: decorative elements, glass films, wallpapers, canvas frames, branding.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85,50,600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Execution: electrical switches/sockets, sanitary fixtures, carpentry structures ready, flush doors, first coat of paint, false ceiling, before HVAC final commissioning and before LV commissioning. Material delivery: modular furniture on site, carpet on site and before chair delivery. Key order closure: deep cleaning.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28,50,200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against unconditional bank guarantee of equal amount, valid for 6 months Defects Liability Period.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What we need from you — client &amp; builder inputs (1/2)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645920"/>
                <a:gridCol w="5120640"/>
                <a:gridCol w="20116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 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kick-off meeting and pooja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PO / signed agreement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advance payment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Layout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approvals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 sampling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drawings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Client/PMC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/ IT requirement and load confirmation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 permissions and mobilisation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Mathadi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NOC / CFO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BMC / statutory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What we need from you — client &amp; builder inputs (2/2)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645920"/>
                <a:gridCol w="5120640"/>
                <a:gridCol w="20116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 and water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Lift availability for material movement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Work hours clarity in building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Heat load approval / CFM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Wi-Fi and access point locations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vendor closure for site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Design/Operation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Client-supplied items (IT / AV)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Store space and debris removal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(1/4)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 Schedule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Finishes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(2/4)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(3/4)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/ PA System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ACS / CCTV / WiFi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Demountable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Backpainted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(4/4)</a:t>
            </a:r>
            <a:endParaRPr lang="en-US" sz="2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delivery dates required on site (1/2)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2377440"/>
                <a:gridCol w="2468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Package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Graphics &amp; Films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Toilet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delivery dates required on site (2/2)</a:t>
            </a:r>
            <a:endParaRPr lang="en-US" sz="2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2377440"/>
                <a:gridCol w="2468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Package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FLSS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Dishwash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Kitchen Equipments &amp; Others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Billing milestones</a:t>
            </a:r>
            <a:endParaRPr lang="en-US" sz="2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108960"/>
                <a:gridCol w="2194560"/>
                <a:gridCol w="4114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ADV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2026-07-29T16:48:39Z</dcterms:created>
  <dcterms:modified xsi:type="dcterms:W3CDTF">2026-07-29T16:48:39Z</dcterms:modified>
</cp:coreProperties>
</file>