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F6F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</a:rPr>
              <a:t>CLIENT ISSUE · CONTRACT BASELINE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4181F"/>
                </a:solidFill>
              </a:rPr>
              <a:t>KOHLER OS, Pune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48640" y="25603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2"/>
                </a:solidFill>
              </a:rPr>
              <a:t>Kohler India Corporation Pvt. Ltd.  ·  7th Floor (7A), ITC, Pune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30175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6FFF"/>
                </a:solidFill>
              </a:rPr>
              <a:t>Project Programme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62179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2"/>
                </a:solidFill>
              </a:rPr>
              <a:t>DnB Planning Engine v1.0.0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F6F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181F"/>
                </a:solidFill>
              </a:rPr>
              <a:t>Programme at a glance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26746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7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960120"/>
            <a:ext cx="45720" cy="1005840"/>
          </a:xfrm>
          <a:prstGeom prst="rect">
            <a:avLst/>
          </a:prstGeom>
          <a:solidFill>
            <a:srgbClr val="0F6FFF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033272"/>
            <a:ext cx="24917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5A6472"/>
                </a:solidFill>
              </a:rPr>
              <a:t>COMMENCEMENT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94360" y="1252728"/>
            <a:ext cx="24917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81F"/>
                </a:solidFill>
              </a:rPr>
              <a:t>2026-07-07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3268980" y="960120"/>
            <a:ext cx="26746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7E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68980" y="960120"/>
            <a:ext cx="45720" cy="1005840"/>
          </a:xfrm>
          <a:prstGeom prst="rect">
            <a:avLst/>
          </a:prstGeom>
          <a:solidFill>
            <a:srgbClr val="0F6FFF"/>
          </a:solidFill>
          <a:ln/>
        </p:spPr>
      </p:sp>
      <p:sp>
        <p:nvSpPr>
          <p:cNvPr id="10" name="Text 8"/>
          <p:cNvSpPr/>
          <p:nvPr/>
        </p:nvSpPr>
        <p:spPr>
          <a:xfrm>
            <a:off x="3406140" y="1033272"/>
            <a:ext cx="24917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5A6472"/>
                </a:solidFill>
              </a:rPr>
              <a:t>CONTRACT COMPLETION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406140" y="1252728"/>
            <a:ext cx="24917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81F"/>
                </a:solidFill>
              </a:rPr>
              <a:t>2026-11-04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3406140" y="1618488"/>
            <a:ext cx="24917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472"/>
                </a:solidFill>
              </a:rPr>
              <a:t>per agreement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6080760" y="960120"/>
            <a:ext cx="26746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7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080760" y="960120"/>
            <a:ext cx="45720" cy="1005840"/>
          </a:xfrm>
          <a:prstGeom prst="rect">
            <a:avLst/>
          </a:prstGeom>
          <a:solidFill>
            <a:srgbClr val="0F6FFF"/>
          </a:solidFill>
          <a:ln/>
        </p:spPr>
      </p:sp>
      <p:sp>
        <p:nvSpPr>
          <p:cNvPr id="15" name="Text 13"/>
          <p:cNvSpPr/>
          <p:nvPr/>
        </p:nvSpPr>
        <p:spPr>
          <a:xfrm>
            <a:off x="6217920" y="1033272"/>
            <a:ext cx="24917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5A6472"/>
                </a:solidFill>
              </a:rPr>
              <a:t>AREA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217920" y="1252728"/>
            <a:ext cx="24917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81F"/>
                </a:solidFill>
              </a:rPr>
              <a:t>14,905 sft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8892540" y="960120"/>
            <a:ext cx="26746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7E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892540" y="960120"/>
            <a:ext cx="45720" cy="1005840"/>
          </a:xfrm>
          <a:prstGeom prst="rect">
            <a:avLst/>
          </a:prstGeom>
          <a:solidFill>
            <a:srgbClr val="0F6FFF"/>
          </a:solidFill>
          <a:ln/>
        </p:spPr>
      </p:sp>
      <p:sp>
        <p:nvSpPr>
          <p:cNvPr id="19" name="Text 17"/>
          <p:cNvSpPr/>
          <p:nvPr/>
        </p:nvSpPr>
        <p:spPr>
          <a:xfrm>
            <a:off x="9029700" y="1033272"/>
            <a:ext cx="24917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5A6472"/>
                </a:solidFill>
              </a:rPr>
              <a:t>CONTRACT VALUE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9029700" y="1252728"/>
            <a:ext cx="24917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81F"/>
                </a:solidFill>
              </a:rPr>
              <a:t>INR 5,70,04,000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9029700" y="1618488"/>
            <a:ext cx="24917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472"/>
                </a:solidFill>
              </a:rPr>
              <a:t>excl. taxes</a:t>
            </a:r>
            <a:endParaRPr lang="en-US" sz="8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194560"/>
          <a:ext cx="11247120" cy="914400"/>
        </p:xfrm>
        <a:graphic>
          <a:graphicData uri="http://schemas.openxmlformats.org/drawingml/2006/table">
            <a:tbl>
              <a:tblPr/>
              <a:tblGrid>
                <a:gridCol w="576072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Phase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Start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Completion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Mobilisation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2026-07-07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2026-07-18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Survey &amp; Make-Safe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2026-07-14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2026-07-23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Demolition &amp; Dismantling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2026-07-17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2026-08-03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Debris Removal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2026-07-24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2026-07-29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Site Clearance &amp; Handover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2026-07-31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2026-08-08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Milestone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2026-08-05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2026-11-03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Civil Works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2026-08-06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2026-08-24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Services - Phase I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2026-08-21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2026-09-17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Ceiling Works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2026-08-25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2026-09-07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Services - Phase II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2026-09-17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2026-10-16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IT, AV &amp; Signage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2026-09-24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2026-10-04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Testing &amp; Handover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2026-09-26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2026-11-03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Finishes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2026-08-21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2026-10-19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Joinery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2026-10-12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Furniture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2026-09-27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2026-10-15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Toilet Works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2026-08-27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2026-09-17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F6F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181F"/>
                </a:solidFill>
              </a:rPr>
              <a:t>Payment milestones</a:t>
            </a:r>
            <a:endParaRPr lang="en-US" sz="2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1124712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1371600"/>
                <a:gridCol w="731520"/>
                <a:gridCol w="1645920"/>
                <a:gridCol w="65836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Stage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Target date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%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Value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Scope covered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ADV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2026-07-07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30%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INR 1,71,01,200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Project mobilisation.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RA1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2026-08-21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20%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INR 1,14,00,800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Execution: Demolition, partition line marking, frameworks, single-side skinning, civil wall, plastering, plumbing, ceiling and wall electrical conduiting, floor raceway laying. Material delivery: gypsum frames, gypsum sheets, electrical conduits and raceway, siporex blocks. Key order closures: HVAC, fire alarm system, carpentry.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RA2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2026-09-15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15%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INR 85,50,600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Execution: closing of partitions from double side, electrical wiring, fire sprinkler piping, FAS wiring. Material delivery: duct material, wires/cables, ply for carpentry items, vitrified tiles. Key order closures: modular furniture, chairs, carpets, glass.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RA3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15%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INR 85,50,600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Execution: painting base-coat preparation, glass channel, HVAC duct installation, false ceiling framing. Material delivery: carpets, sanitary fittings and fixtures, doors, DB/MCB. Key order closures: decorative elements, glass films, wallpapers, canvas frames, branding.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RA4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2026-10-25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15%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INR 85,50,600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Execution: electrical switches/sockets, sanitary fixtures, carpentry structures ready, flush doors, first coat of paint, false ceiling, before HVAC final commissioning and before LV commissioning. Material delivery: modular furniture on site, carpet on site and before chair delivery. Key order closure: deep cleaning.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RA5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2026-11-04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5%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INR 28,50,200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Release against unconditional bank guarantee of equal amount, valid for 6 months Defects Liability Period.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F6F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181F"/>
                </a:solidFill>
              </a:rPr>
              <a:t>What we need from you — client &amp; builder inputs (1/2)</a:t>
            </a:r>
            <a:endParaRPr lang="en-US" sz="2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1124712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1645920"/>
                <a:gridCol w="5120640"/>
                <a:gridCol w="2011680"/>
                <a:gridCol w="1828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Sr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Area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Description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Responsibility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Required by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Kick Off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Site kick-off meeting and pooja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Client/FS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2026-07-07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Commercial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Project PO / signed agreement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Client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2026-07-07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Commercial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Project advance payment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Client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2026-07-14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Design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Layout approval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Client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2026-07-04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Design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3D approvals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Client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2026-07-17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6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Design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Material sampling approval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Client/FS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2026-08-03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7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Design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MEP drawings approval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Client/PMC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2026-08-07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8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Design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Electrical / IT requirement and load confirmation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Client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2026-08-07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Operation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Builder permissions and mobilisation clearance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FS/Builder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2026-07-07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10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Operation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Mathadi clearance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FS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2026-07-07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Operation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Fire NOC / CFO approval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FS/Builder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2026-08-07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Operation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BMC / statutory approval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FS/Builder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2026-06-30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F6F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181F"/>
                </a:solidFill>
              </a:rPr>
              <a:t>What we need from you — client &amp; builder inputs (2/2)</a:t>
            </a:r>
            <a:endParaRPr lang="en-US" sz="2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1124712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1645920"/>
                <a:gridCol w="5120640"/>
                <a:gridCol w="2011680"/>
                <a:gridCol w="1828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Sr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Area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Description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Responsibility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Required by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Operation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Temporary power and water availability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Builder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2026-08-16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Operation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Lift availability for material movement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Builder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2026-07-11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Operation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Work hours clarity in building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Builder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2026-07-11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16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Operation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Heat load approval / CFM availability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Builder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2026-08-07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17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Operation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Wi-Fi and access point locations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Client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2026-08-26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18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Operation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Modular vendor closure for site marking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Client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2026-07-21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Design/Operation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Client-supplied items (IT / AV) delivery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Client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2026-08-26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Operation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Store space and debris removal area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Builder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2026-07-11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F6F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181F"/>
                </a:solidFill>
              </a:rPr>
              <a:t>Design deliverables — approval dates (1/7)</a:t>
            </a:r>
            <a:endParaRPr lang="en-US" sz="2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1124712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5852160"/>
                <a:gridCol w="2011680"/>
                <a:gridCol w="20116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Category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Deliverable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Criticality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Approval by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GFC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Base Build Layout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Very Critical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2026-07-13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GFC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Furniture Layout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Very Critical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2026-07-28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GFC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Furniture Dimensions Layout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2026-07-24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GFC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Partition Layout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Very Critical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2026-07-24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GFC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Flooring Layout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2026-08-12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GFC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Floor Marking Layout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Medium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2026-08-12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GFC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Raised Flooring Layout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2026-08-12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GFC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Door Schedule Layout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2026-09-24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GFC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Wall Finishes Layout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2026-09-07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GFC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Modular Layout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Very Critical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2026-07-28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GFC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RCP Layout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Very Critical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2026-08-24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GFC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Lighting Layout (with dimensions)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Very Critical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2026-08-20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GFC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Wallpaper &amp; Graphics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Low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2026-08-20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GFC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Fire Evacuation Plan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Medium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2026-08-20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F6F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181F"/>
                </a:solidFill>
              </a:rPr>
              <a:t>Design deliverables — approval dates (2/7)</a:t>
            </a:r>
            <a:endParaRPr lang="en-US" sz="2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1124712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5852160"/>
                <a:gridCol w="2011680"/>
                <a:gridCol w="20116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Category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Deliverable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Criticality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Approval by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GFC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3D Views — Detailed &amp; Client Approval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Very Critical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2026-08-06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MEP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Electrical DBR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Very Critical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2026-08-20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MEP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Electrical SLD Layout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Very Critical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2026-08-20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MEP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Electrical Load Calculation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Very Critical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2026-08-20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MEP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Power, Data &amp; Switch Board Layout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Very Critical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2026-08-20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MEP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Raceway Layout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Very Critical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2026-08-20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MEP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Cable Tray Layout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2026-08-20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MEP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Lighting Looping Layout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2026-08-20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MEP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Panel &amp; DB Position Layout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2026-08-20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MEP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UPS Calculation &amp; Specification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2026-08-20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MEP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HVAC DBR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Very Critical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2026-08-20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MEP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HVAC Heat Load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Very Critical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2026-08-20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MEP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HVAC Layout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Very Critical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2026-08-20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MEP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PHE DBR &amp; Plumbing Layout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2026-08-20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F6F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181F"/>
                </a:solidFill>
              </a:rPr>
              <a:t>Design deliverables — approval dates (3/7)</a:t>
            </a:r>
            <a:endParaRPr lang="en-US" sz="2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1124712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5852160"/>
                <a:gridCol w="2011680"/>
                <a:gridCol w="20116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Category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Deliverable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Criticality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Approval by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MEP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Fire Sprinkler Layout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Very Critical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2026-08-20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MEP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FA / PA System Layout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2026-09-04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MEP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ACS / CCTV / WiFi Layout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2026-09-04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MEP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LV DBR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2026-09-04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SAMPLING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Floor and Dado Tiles — Reception &amp; Lounge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2026-08-12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SAMPLING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Floor and Dado Tiles — Workstations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2026-08-12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SAMPLING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Floor and Dado Tiles — Cabins &amp; Meeting Rooms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2026-08-12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SAMPLING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Floor and Dado Tiles — Boardroom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2026-08-12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SAMPLING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Floor and Dado Tiles — Cafeteria &amp; Pantry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2026-08-12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SAMPLING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Floor and Dado Tiles — Toilets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2026-08-12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SAMPLING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Floor and Dado Tiles — Support &amp; Server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2026-08-12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SAMPLING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Carpentry Laminates &amp; Veneer Shades — Reception &amp; Lounge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2026-09-24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SAMPLING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Carpentry Laminates &amp; Veneer Shades — Workstations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2026-09-24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SAMPLING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Carpentry Laminates &amp; Veneer Shades — Cabins &amp; Meeting Rooms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2026-09-24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F6F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181F"/>
                </a:solidFill>
              </a:rPr>
              <a:t>Design deliverables — approval dates (4/7)</a:t>
            </a:r>
            <a:endParaRPr lang="en-US" sz="2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1124712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5852160"/>
                <a:gridCol w="2011680"/>
                <a:gridCol w="20116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Category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Deliverable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Criticality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Approval by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SAMPLING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Carpentry Laminates &amp; Veneer Shades — Boardroom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2026-09-24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SAMPLING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Carpentry Laminates &amp; Veneer Shades — Cafeteria &amp; Pantry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2026-09-24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SAMPLING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Carpentry Laminates &amp; Veneer Shades — Toilets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2026-09-24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SAMPLING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Carpentry Laminates &amp; Veneer Shades — Support &amp; Server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2026-09-24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SAMPLING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Paint Shades — Reception &amp; Lounge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Medium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2026-09-07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SAMPLING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Paint Shades — Workstations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Medium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2026-09-07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SAMPLING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Paint Shades — Cabins &amp; Meeting Rooms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Medium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2026-09-07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SAMPLING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Paint Shades — Boardroom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Medium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2026-09-07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SAMPLING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Paint Shades — Cafeteria &amp; Pantry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Medium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2026-09-07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SAMPLING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Paint Shades — Toilets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Medium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2026-09-07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SAMPLING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Paint Shades — Support &amp; Server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Medium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2026-09-07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SAMPLING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Carpet / SPC Flooring — Reception &amp; Lounge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2026-08-12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SAMPLING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Carpet / SPC Flooring — Workstations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2026-08-12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SAMPLING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Carpet / SPC Flooring — Cabins &amp; Meeting Rooms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2026-08-12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F6F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181F"/>
                </a:solidFill>
              </a:rPr>
              <a:t>Design deliverables — approval dates (5/7)</a:t>
            </a:r>
            <a:endParaRPr lang="en-US" sz="2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1124712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5852160"/>
                <a:gridCol w="2011680"/>
                <a:gridCol w="20116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Category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Deliverable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Criticality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Approval by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SAMPLING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Carpet / SPC Flooring — Boardroom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2026-08-12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SAMPLING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Carpet / SPC Flooring — Cafeteria &amp; Pantry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2026-08-12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SAMPLING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Carpet / SPC Flooring — Toilets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2026-08-12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SAMPLING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Carpet / SPC Flooring — Support &amp; Server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2026-08-12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SAMPLING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Demountable Glass Partition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Very Critical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2026-09-24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SAMPLING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Backpainted Glass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Medium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2026-09-24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SAMPLING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Grid &amp; Stretch Ceiling — Reception &amp; Lounge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2026-08-24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SAMPLING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Grid &amp; Stretch Ceiling — Workstations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2026-08-24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SAMPLING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Grid &amp; Stretch Ceiling — Cabins &amp; Meeting Rooms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2026-08-24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SAMPLING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Grid &amp; Stretch Ceiling — Boardroom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2026-08-24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SAMPLING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Grid &amp; Stretch Ceiling — Cafeteria &amp; Pantry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2026-08-24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SAMPLING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Grid &amp; Stretch Ceiling — Toilets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2026-08-24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SAMPLING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Grid &amp; Stretch Ceiling — Support &amp; Server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2026-08-24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SAMPLING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Acoustics / Fluted Panel — Reception &amp; Lounge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Medium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2026-08-24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F6F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181F"/>
                </a:solidFill>
              </a:rPr>
              <a:t>Design deliverables — approval dates (6/7)</a:t>
            </a:r>
            <a:endParaRPr lang="en-US" sz="2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1124712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5852160"/>
                <a:gridCol w="2011680"/>
                <a:gridCol w="20116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Category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Deliverable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Criticality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Approval by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SAMPLING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Acoustics / Fluted Panel — Workstations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Medium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2026-08-24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SAMPLING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Acoustics / Fluted Panel — Cabins &amp; Meeting Rooms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Medium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2026-08-24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SAMPLING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Acoustics / Fluted Panel — Boardroom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Medium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2026-08-24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SAMPLING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Acoustics / Fluted Panel — Cafeteria &amp; Pantry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Medium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2026-08-24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SAMPLING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Acoustics / Fluted Panel — Toilets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Medium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2026-08-24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SAMPLING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Acoustics / Fluted Panel — Support &amp; Server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Medium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2026-08-24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SAMPLING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Switch Sockets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Medium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2026-08-20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SAMPLING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Decorative Lights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2026-08-20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SAMPLING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Sanitary Fixtures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Medium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2026-08-20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SAMPLING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Chairs &amp; Loose Furniture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2026-07-26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SAMPLING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Blinds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Medium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2026-08-20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SAMPLING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Skirting &amp; T Profile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Low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2026-08-20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GFC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TD — Interior Works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Very Critical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2026-07-24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GFC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TD — Modular Glass Partitions &amp; Doors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Very Critical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2026-07-24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F6F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181F"/>
                </a:solidFill>
              </a:rPr>
              <a:t>Design deliverables — approval dates (7/7)</a:t>
            </a:r>
            <a:endParaRPr lang="en-US" sz="2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1124712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5852160"/>
                <a:gridCol w="2011680"/>
                <a:gridCol w="20116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Category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Deliverable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Criticality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Approval by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GFC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TD — Modular Furniture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Very Critical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2026-07-24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GFC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TD — Loose Furniture &amp; Chairs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Very Critical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2026-07-24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GFC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Elevation — Reception &amp; Lounge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2026-09-24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GFC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Elevation — Workstations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2026-09-24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GFC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Elevation — Cabins &amp; Meeting Rooms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2026-09-24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GFC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Elevation — Boardroom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2026-09-24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GFC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Elevation — Cafeteria &amp; Pantry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2026-09-24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GFC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Elevation — Toilets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2026-09-24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GFC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Elevation — Support &amp; Server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2026-09-24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F6F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181F"/>
                </a:solidFill>
              </a:rPr>
              <a:t>Procurement — delivery dates required on site (1/2)</a:t>
            </a:r>
            <a:endParaRPr lang="en-US" sz="22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11247120" cy="914400"/>
        </p:xfrm>
        <a:graphic>
          <a:graphicData uri="http://schemas.openxmlformats.org/drawingml/2006/table">
            <a:tbl>
              <a:tblPr/>
              <a:tblGrid>
                <a:gridCol w="6400800"/>
                <a:gridCol w="2377440"/>
                <a:gridCol w="24688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Package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Criticality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Delivery required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Civil Works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Low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2026-07-12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Interior Works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Low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2026-08-06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Modular Glass Partitions &amp; Doors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Very Critical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2026-09-23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Signages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Medium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Graphics &amp; Films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Very Critical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2026-10-05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Blinds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2026-09-27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Planters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Medium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Toilet Works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Medium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2026-08-25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Carpet Flooring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2026-08-11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Modular Furniture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Very Critical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2026-09-25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Loose Furniture &amp; Chairs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Very Critical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2026-10-08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Electrical Works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2026-08-19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Light Fixtures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2026-10-03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HVAC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Medium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2026-08-19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F6F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181F"/>
                </a:solidFill>
              </a:rPr>
              <a:t>Procurement — delivery dates required on site (2/2)</a:t>
            </a:r>
            <a:endParaRPr lang="en-US" sz="22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11247120" cy="914400"/>
        </p:xfrm>
        <a:graphic>
          <a:graphicData uri="http://schemas.openxmlformats.org/drawingml/2006/table">
            <a:tbl>
              <a:tblPr/>
              <a:tblGrid>
                <a:gridCol w="6400800"/>
                <a:gridCol w="2377440"/>
                <a:gridCol w="24688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Package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Criticality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Delivery required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Passive Networking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Medium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2026-09-03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Plumbing Works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Medium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2026-08-19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FLSS Works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Medium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2026-08-19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Dishwash Area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Medium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2026-08-19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Kitchen Equipments &amp; Others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Medium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F6F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181F"/>
                </a:solidFill>
              </a:rPr>
              <a:t>Billing milestones</a:t>
            </a:r>
            <a:endParaRPr lang="en-US" sz="22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1124712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3108960"/>
                <a:gridCol w="2194560"/>
                <a:gridCol w="4114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RA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Due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%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5A6472"/>
                          </a:solidFill>
                        </a:rPr>
                        <a:t>Status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ADV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2026-07-07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30%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Delayed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RA1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2026-08-21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20%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Not Started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RA2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2026-09-15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15%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Not Started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RA3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2026-09-30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15%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Not Started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RA4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2026-10-25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15%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Not Started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RA5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2026-11-04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5%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4181F"/>
                          </a:solidFill>
                        </a:rPr>
                        <a:t>Not Started</a:t>
                      </a:r>
                      <a:endParaRPr lang="en-US" sz="900" dirty="0"/>
                    </a:p>
                  </a:txBody>
                  <a:tcPr marL="50800" marR="50800" marT="50800" marB="50800">
                    <a:lnL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2026-07-30T11:32:08Z</dcterms:created>
  <dcterms:modified xsi:type="dcterms:W3CDTF">2026-07-30T11:32:08Z</dcterms:modified>
</cp:coreProperties>
</file>