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India Corporation Pvt. Ltd.  ·  7th Floor (7A), ITC,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98%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2026-11-03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120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2026-11-04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30 / 66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72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2026-09-25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—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9/9 inputs provided; 1/19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(1/3)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 &amp; access setup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condition / dilapidation survey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Hazardous material check &amp;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Disconnection &amp; isolation of existing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false ceiling &amp; services below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partitions, glazing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(2/3)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 (ducting &amp; piping)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 (conduiting &amp; cabling)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 (cable laying)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Phase-I inspection &amp; sign-off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Partition &amp; ceiling -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ceiling - boarding &amp; services integration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close-out inspection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works - tile, marble, wooden &amp; carpet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Reception, display &amp; water-body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&amp; IT integration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II (fixtures, switches &amp; light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(3/3)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Integrated systems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 documentation &amp; training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 &amp; access setup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Hoarding, barricading &amp;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HSE setup, permits &amp; site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&amp; lighting arrangement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condition / dilapidation survey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services mapping &amp; tagging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Hazardous material check &amp;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Disconnection &amp; isolation of existing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false ceiling &amp; services below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partitions, glazing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Removal of existing flooring &amp; floor chipping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joinery, pantry &amp;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existing services (cable, duct, pipe)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AAC block masonry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Self-levelling screed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- wet areas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 (ducting &amp; piping)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 (conduiting &amp; cabling)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 - Phase I (sprinkler piping &amp; rough-in)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works - Phase I (drainage &amp; water lines)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 (cable laying)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Phase-I inspection &amp; sign-off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Partition &amp; ceiling -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ceiling - boarding &amp; services integration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close-out inspection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II (indoor units &amp; diffusers)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II (termination &amp; racks)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Active networking &amp; IT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balancing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plaster &amp; 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works - tile, marble, wooden &amp; carpet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Reception, display &amp; water-body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&amp; pantry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 - Phase II (heads, detectors &amp; PA system)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works - Phase II (sanitaryware &amp;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&amp; IT integration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ironmongery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works - primer &amp; first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II (fixtures, switches &amp; light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Access control &amp; CCTV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life-safety system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Integrated systems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 documentation &amp; training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application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&amp; wayfinding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works - final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TW.1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 (cubicles, cladding, ceiling &amp; sanitaryware)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 &amp; de-snagging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Final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handover - Phase 2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2026-07-13)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2026-09-24)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 (client approval 2026-08-12)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2026-09-04)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Kitchen Equipments &amp; Others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at site — delivery register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MATERIALS TRACKED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84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SHORT ON SITE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9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required date passed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PAST ORDER-BY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21792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lead time no longer fits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CLIENT FREE ISSUE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not on our PO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One level below the procurement packages: each material is dated against the activity that consumes it, and carries the vendor or PO that brings it.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(1/6)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AAC blocks / bricks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Cement, sand &amp; aggregate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compound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Self-levelling screed compound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Anti-termite &amp; pest control chemical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Tile adhesive &amp; grout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partition frame — studs &amp; tracks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Gyproc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12.5mm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Gyproc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Glasswool / rockwool insulation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Gyproc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12/18/35mm 710 grade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Hardwood / Matti wood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Laminates &amp; veneer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Hardware — hinges, channels, handles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 grid &amp; boards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Gyproc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/ fire-rated ceiling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(2/6)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/ fluted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Sonedio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putty, primer &amp;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Jotun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Aluminium skirting / T-profile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Bottom Line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glass — toughened / laminated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 frame &amp; profiles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Dorma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Patch fittings, floor springs &amp; locks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Back-painted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Saint Gobain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&amp; wayfinding boards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Frosting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Roller / venetian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&amp; green 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tiles / broadloom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SPC / vinyl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&amp; ceramic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(3/6)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 panels &amp; pedestals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adhesive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Dust mat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Workstations &amp; linear desks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Storage units &amp; pedestals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Meeting &amp; conference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Task &amp; visitor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seating &amp; lounge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&amp; distribution boards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MCB / RCCB / switchgear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FRLS copper wires &amp;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conduits, back boxes &amp; accessories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trays, raceways &amp; trunking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switches &amp;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(4/6)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Earthing material &amp; strips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fittings &amp; drivers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Profile &amp; cove lighting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&amp; pendant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&amp; battery bank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CPVC / UPVC pipes &amp; fittings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Sanitaryware — WC, basins, urinals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CP fittings &amp; accessories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cubicle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sheet for ducting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insulation — thermal &amp; acoustic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Grilles, diffusers &amp; volume dampers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VRF / VRV indoor units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Outdoor units (ODU)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(5/6)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Refrigerant piping &amp; insulation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Exhaust fans &amp; ventilation units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CAT6 / CAT6A cable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Network racks &amp; patch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Face plates, I/O boxes &amp; patch cords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Fibre &amp; OFC accessories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pipes — C-class grooved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heads &amp; flexible drops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detectors, hooters &amp; FAS panel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 / PAVA system &amp; speakers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CCTV, NVR &amp; access control hardware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Armoured cabling — FAS / PA / CCTV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&amp;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(6/6)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consumables — fasteners, adhesives, hardware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Vendor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PPE, barricading &amp; site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Vendor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Scaffolding &amp; access equipment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Vendor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Housekeeping &amp; debris removal 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Vendor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 hardware — desktops, laptops, printers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Active network components — switches, routers, firewall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equipment — VC systems, displays, sound bars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Pantry appliances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loose furniture &amp; artefacts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59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5,70,04,000</a:t>
            </a:r>
            <a:endParaRPr lang="en-US" sz="17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1,71,01,200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1,14,00,800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28,50,200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(1/4)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line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Frameworks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Single-side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electrical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raceway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sheets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conduits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Siporex blocks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(2/4)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alarm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Closing of partitions from double side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FAS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Wires/cables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for carpentry items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base-coat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(3/4)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channel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duct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fittings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DB/MCB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elements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Canvas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switches/sockets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structures ready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(4/4)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First coat of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HVAC final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LV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chair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against unconditional bank guarantee of equal 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Valid for 6 months Defects Liability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(1/7)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(2/7)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(3/7)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Removal of existing flooring &amp; floor chipping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(4/7)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(5/7)</a:t>
            </a:r>
            <a:endParaRPr lang="en-US" sz="2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(6/7)</a:t>
            </a:r>
            <a:endParaRPr lang="en-US" sz="2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AAC block masonry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(7/7)</a:t>
            </a:r>
            <a:endParaRPr lang="en-US" sz="2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Self-levelling screed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(1/3)</a:t>
            </a:r>
            <a:endParaRPr lang="en-US" sz="22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432 man-days across 21 working days needs 21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34 vs peak 72).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"Kitchen Equipments &amp; Others"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 of 84 site materials cannot be ordered inside the programme as scheduled — their lead times run behind the site start, so they had to be released at award. Longest exposure: Dust mat (58d lead, order-by 2026-06-14); Acoustic / fluted panels (50d lead, order-by 2026-07-04); Aluminium skirting / T-profile (50d lead, order-by 2026-06-30).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A3: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A4: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(2/3)</a:t>
            </a:r>
            <a:endParaRPr lang="en-US" sz="22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A5: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A6: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A7: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A8: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B3: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C1: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(3/3)</a:t>
            </a:r>
            <a:endParaRPr lang="en-US" sz="22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C2: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D1: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E1: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F1: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G: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2026-08-05T06:04:27Z</dcterms:created>
  <dcterms:modified xsi:type="dcterms:W3CDTF">2026-08-05T06:04:27Z</dcterms:modified>
</cp:coreProperties>
</file>