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INTERNAL — NOT FOR CLIENT ISSUE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</a:rPr>
              <a:t>KOHLER OS, Pune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Kohler India Corporation Pvt. Ltd.  ·  7th Floor (7A), ITC, Pune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</a:rPr>
              <a:t>Execution Plan  ·  confidence 98%  ·  norms norms-v1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DnB Planning Engine v1.0.0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INTERNAL TARGET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2026-11-03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120 wd (CPM)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3172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FINISH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6888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2026-11-04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0624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BUFFER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4340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1d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4340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invariant holds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CRITICAL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30 / 66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1792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zero float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95528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PEAK MANPOWER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9244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72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9244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2026-09-25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82980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MARGIN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96696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—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96696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6 RA milestones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2103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Confidence basis: 9/9 inputs provided; 1/19 packages unmapped; buffer 1d.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471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194560"/>
                <a:gridCol w="21945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On critical path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Survey &amp; Make-Safe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 &amp; Dismantling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Debris Removal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Clearance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Milestone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IT, AV &amp;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Toilet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Critical path — 30 activities, zero float (1/3)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1463040"/>
                <a:gridCol w="82296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Trade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mobilisation &amp; access setup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Existing condition / dilapidation survey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Hazardous material check &amp;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Disconnection &amp; isolation of existing services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Dismantling of false ceiling &amp; services below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Dismantling of partitions, glazing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breaking / hard demolition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Debris segregation &amp; stacking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Debris removal &amp; disposal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PCC &amp; self-levelling screed preparation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deep cleaning &amp; dust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Joint survey of cleared shell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Cleared shell handover - Phase 1 completion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Setting out &amp; marking as per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Critical path — 30 activities, zero float (2/3)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1463040"/>
                <a:gridCol w="82296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Trade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partition framing &amp; ply backing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works - Phase I (ducting &amp; piping)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 - Phase I (conduiting &amp; cabling)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 - Phase I (cable laying)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Phase-I inspection &amp; sign-off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board Partition &amp; ceiling - framing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board ceiling - boarding &amp; services integration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close-out inspection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works - tile, marble, wooden &amp; carpet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Reception, display &amp; water-body 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AV system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AV &amp; IT integration testing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 - Phase II (fixtures, switches &amp; light fixtures)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testing &amp;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Critical path — 30 activities, zero float (3/3)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1463040"/>
                <a:gridCol w="82296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Trade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Integrated systems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Handover documentation &amp; training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(1/5)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mobilisation &amp; access setup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Hoarding, barricading &amp; signages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HSE setup, permits &amp; site induction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power, water &amp; lighting arrangement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Existing condition / dilapidation survey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Survey &amp; Make-Safe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Existing services mapping &amp; tagging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Survey &amp; Make-Safe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Hazardous material check &amp;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Survey &amp; Make-Safe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Disconnection &amp; isolation of existing services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Survey &amp; Make-Safe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Dismantling of false ceiling &amp; services below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 &amp; Dismantling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Dismantling of partitions, glazing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 &amp; Dismantling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Removal of existing flooring &amp; floor chipping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 &amp; Dismantling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Dismantling of joinery, pantry &amp;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 &amp; Dismantling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Dismantling of existing services (cable, duct, pipe)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 &amp; Dismantling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3.6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breaking / hard demolition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 &amp; Dismantling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Debris segregation &amp; stacking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Debris Removal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Debris removal &amp; disposal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Debris Removal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(2/5)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PCC &amp; self-levelling screed preparation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Clearance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deep cleaning &amp; dust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Clearance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Joint survey of cleared shell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Clearance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Cleared shell handover - Phase 1 completion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Milestone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Setting out &amp; marking as per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AAC block masonry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partition framing &amp; ply backing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Self-levelling screed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6.5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Waterproofing - wet areas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works - Phase I (ducting &amp; piping)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 - Phase I (conduiting &amp; cabling)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FLSS works - Phase I (sprinkler piping &amp; rough-in)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works - Phase I (drainage &amp; water lines)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 - Phase I (cable laying)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7.7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Phase-I inspection &amp; sign-off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board Partition &amp; ceiling - framing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(3/5)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board ceiling - boarding &amp; services integration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close-out inspection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works - Phase II (indoor units &amp; diffusers)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11.5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 - Phase II (termination &amp; racks)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Active networking &amp; IT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IT, AV &amp;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testing &amp; balancing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plaster &amp; POP punning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works - tile, marble, wooden &amp; carpet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Reception, display &amp; water-body 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Cafeteria &amp; pantry 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FLSS works - Phase II (heads, detectors &amp; PA system)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works - Phase II (sanitaryware &amp; fixtures)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AV system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IT, AV &amp;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AV &amp; IT integration testing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glass partitions &amp; doors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 &amp; ironmongery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(4/5)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12.5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IT, AV &amp;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 works - primer &amp; first coat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 - Phase II (fixtures, switches &amp; light fixtures)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Access control &amp; CCTV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IT, AV &amp;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testing &amp;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&amp; life-safety system testing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Integrated systems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Handover documentation &amp; training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9.5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Graphics &amp; films application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12.4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 &amp; wayfinding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IT, AV &amp;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9.6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 works - final coat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13.2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Loose furniture &amp; chairs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TW.1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Toilet works (cubicles, cladding, ceiling &amp; sanitaryware)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Toilet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Snagging &amp; de-snagging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(5/5)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Final 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14.10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handover - Phase 2 completion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Milestone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(1/7)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 Schedule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Finishes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(2/7)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/ PA System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(3/7)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ACS / CCTV / WiFi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(4/7)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(5/7)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Demountable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Backpainted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(6/7)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(7/7)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order-by and delivery required (1/2)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280160"/>
                <a:gridCol w="1188720"/>
                <a:gridCol w="1463040"/>
                <a:gridCol w="11887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Gated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consumables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 (client approval 2026-07-13)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Interior boards/ply (Gyproc/ply norms)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partitions (partition glass norm)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Demountable Glass Partition (client approval 2026-09-24)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Graphics &amp; Films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Graphics &amp; films (frosting norm)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Toilet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Layout (client approval 2026-08-12)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switchgear/cabling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Layout (with dimensions) (client approval 2026-08-20)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 (client approval 2026-08-20)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order-by and delivery required (2/2)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280160"/>
                <a:gridCol w="1188720"/>
                <a:gridCol w="1463040"/>
                <a:gridCol w="11887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Gated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/ PA System Layout (client approval 2026-09-04)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 (client approval 2026-08-20)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FLSS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 (client approval 2026-08-20)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Dishwash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Kitchen Equipments &amp; Others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Manpower — levelled contractor gangs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188720"/>
                <a:gridCol w="1463040"/>
                <a:gridCol w="146304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Trade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From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To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Man-days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Core gang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Peak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432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560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370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336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billing milestones — readiness against site progress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MILESTONES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6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0624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CLAUSES TRACKED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4340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59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VALUE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9244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INR 5,70,04,000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ADV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1,71,01,200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1,14,00,800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85,50,600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85,50,600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85,50,600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28,50,200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milestone clauses — what must be true before billing (1/4)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56692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Kind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ADV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line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Frameworks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Single-side skinning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wall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Plastering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electrical conduiting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raceway laying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frames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sheets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conduits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Siporex blocks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milestone clauses — what must be true before billing (2/4)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56692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Kind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alarm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Closing of partitions from double side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wiring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piping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FAS wiring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Duct 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Wires/cables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Ply for carpentry items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Vitrified tiles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 base-coat preparation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milestone clauses — what must be true before billing (3/4)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56692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Kind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channel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duct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 framing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fittings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DB/MCB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Decorative elements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films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Canvas frames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Branding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switches/sockets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structures ready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milestone clauses — what must be true before billing (4/4)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56692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Kind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Flush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First coat of paint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Before HVAC final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Before LV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 on site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on site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Before chair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order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Deep 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against unconditional bank guarantee of equal amount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Valid for 6 months Defects Liability Period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Resource plan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Role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Basis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Manager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ceil(14905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 (Civil/Interior)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ceil(14905 sft / 12000)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ceil(14905 sft / 25000)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ceil(14905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 Owner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ceil(14905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Safety Officer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ceil(14905 sft / 30000)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QC / Snag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ceil(14905 sft / 30000)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(1/7)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Carpet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resource allocation confirmed (PM, site engineer, MEP, design, procurement)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tool creation — tracker, folder structure and access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 WhatsApp group creation with the agreed participants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Wispr onboarding for the project team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Welcome email issued to the client with team and escalation matrix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verification against the GFC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Building permissions, gate pass and work permits obtained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Day-0 site photographs and dilapidation record filed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marking completed and signed 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Labour onboarding, ID cards and safety induction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Kick-off meeting with the client and consultants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power, water and site lighting arranged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(2/7)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TD — 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TD — 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TD — 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TD — 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Civil breaking / hard demolition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 progress: Debris segregation &amp; stacking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Debris removal &amp; disposal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(3/7)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Plumbing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FLSS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Dishwash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Removal of existing flooring &amp; floor chipping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PCC &amp; self-levelling screed preparation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Toilet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Joint survey of cleared shell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Cleared shell handover - Phase 1 completion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(4/7)</a:t>
            </a:r>
            <a:endParaRPr lang="en-US" sz="2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Site deep cleaning &amp; dust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Setting out &amp; marking as per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(5/7)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(6/7)</a:t>
            </a:r>
            <a:endParaRPr lang="en-US" sz="2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Graphics &amp; Films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AAC block masonry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(7/7)</a:t>
            </a:r>
            <a:endParaRPr lang="en-US" sz="2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Gypsum partition framing &amp; ply backing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Start: Self-levelling screed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Client / builder open points (1/2)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4572000"/>
                <a:gridCol w="182880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 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kick-off meeting and pooja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PO / signed agreement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advance payment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Layout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approvals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 sampling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drawings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Client/PMC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/ IT requirement and load confirmation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 permissions and mobilisation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Mathadi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NOC / CFO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BMC / statutory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 and water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Lift availability for material movement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Work hours clarity in building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Client / builder open points (2/2)</a:t>
            </a:r>
            <a:endParaRPr lang="en-US" sz="2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4572000"/>
                <a:gridCol w="182880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Heat load approval / CFM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Wi-Fi and access point locations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vendor closure for site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Design/Operation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Client-supplied items (IT / AV)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Store space and debris removal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Assumptions, gaps and risks (1/3)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955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Note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Visibility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carpentry: 432 man-days across 21 working days needs 21 workers, above the 16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 curve is peaky (average 34 vs peak 72). Consider re-sequencing overlapping trades.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"Kitchen Equipments &amp; Others" has no mapped site activity; order-by date not computed.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A1: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A2: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A3: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A4: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A5: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Assumptions, gaps and risks (2/3)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955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Note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Visibility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A6: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A7: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A8: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B1: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B2: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B3: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C1: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C2: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Assumptions, gaps and risks (3/3)</a:t>
            </a:r>
            <a:endParaRPr lang="en-US" sz="2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955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Note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Visibility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D1: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E1: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F1: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G: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H1: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billing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H2: BCS cost missing; margin for it assumed at the 28% norm from the BOQ_BCS margin column.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2026-07-29T17:28:32Z</dcterms:created>
  <dcterms:modified xsi:type="dcterms:W3CDTF">2026-07-29T17:28:32Z</dcterms:modified>
</cp:coreProperties>
</file>