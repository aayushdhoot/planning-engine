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INTERNAL — NOT FOR CLIENT ISSUE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KOHLER OS, Pune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Kohler India Corporation Pvt. Ltd.  ·  7th Floor (7A), ITC, Pune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121F"/>
                </a:solidFill>
              </a:rPr>
              <a:t>Execution Plan  ·  confidence 98%  ·  norms norms-v1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Position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INTERNAL TARGET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2026-11-03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943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120 wd (CPM)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33172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3172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1" name="Text 9"/>
          <p:cNvSpPr/>
          <p:nvPr/>
        </p:nvSpPr>
        <p:spPr>
          <a:xfrm>
            <a:off x="246888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FINISH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46888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2026-11-04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20624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5" name="Text 13"/>
          <p:cNvSpPr/>
          <p:nvPr/>
        </p:nvSpPr>
        <p:spPr>
          <a:xfrm>
            <a:off x="434340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BUFFER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34340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1d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34340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invariant holds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08076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CRITICAL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1792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30 / 66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21792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zero float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95528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5" name="Text 23"/>
          <p:cNvSpPr/>
          <p:nvPr/>
        </p:nvSpPr>
        <p:spPr>
          <a:xfrm>
            <a:off x="809244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PEAK MANPOWER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09244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72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09244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2026-09-25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98298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8298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0" name="Text 28"/>
          <p:cNvSpPr/>
          <p:nvPr/>
        </p:nvSpPr>
        <p:spPr>
          <a:xfrm>
            <a:off x="99669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MARGIN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99669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—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9669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6 RA milestones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</a:rPr>
              <a:t>Confidence basis: 9/9 inputs provided; 1/19 packages unmapped; buffer 1d.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68880"/>
          <a:ext cx="1124712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2194560"/>
                <a:gridCol w="219456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On critical path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Milestone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30 activities, zero float (1/3)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mobilisation &amp; access setup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Existing condition / dilapidation survey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Hazardous material check &amp;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Disconnection &amp; isolation of existing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false ceiling &amp; services below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partitions, glazing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breaking / hard demolition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segregation &amp; stacking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 &amp; disposal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PCC &amp; self-levelling screed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deep cleaning &amp; dust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Joint survey of cleared shell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Cleared shell handover - Phase 1 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Setting out &amp; marking as per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30 activities, zero float (2/3)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partition framing &amp; ply backing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works - Phase I (ducting &amp; piping)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 - Phase I (conduiting &amp; cabling)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 - Phase I (cable laying)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Phase-I inspection &amp; sign-off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Partition &amp; ceiling -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ceiling - boarding &amp; services integration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close-out inspection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works - tile, marble, wooden &amp; carpet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Reception, display &amp; water-body 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system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&amp; IT integration testing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 - Phase II (fixtures, switches &amp; light fixtures)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30 activities, zero float (3/3)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Integrated systems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 documentation &amp; training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(1/5)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mobilisation &amp; access setup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Hoarding, barricading &amp; 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HSE setup, permits &amp; site induction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power, water &amp; lighting arrangement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Existing condition / dilapidation survey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Existing services mapping &amp; tagging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Hazardous material check &amp;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Disconnection &amp; isolation of existing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false ceiling &amp; services below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partitions, glazing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Removal of existing flooring &amp; floor chipping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joinery, pantry &amp;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existing services (cable, duct, pipe)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breaking / hard demolition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segregation &amp; stacking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 &amp; disposal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(2/5)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PCC &amp; self-levelling screed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deep cleaning &amp; dust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Joint survey of cleared shell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Cleared shell handover - Phase 1 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Milestone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Setting out &amp; marking as per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AAC block masonry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partition framing &amp; ply backing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Self-levelling screed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 - wet areas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works - Phase I (ducting &amp; piping)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 - Phase I (conduiting &amp; cabling)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 - Phase I (sprinkler piping &amp; rough-in)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works - Phase I (drainage &amp; water lines)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 - Phase I (cable laying)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Phase-I inspection &amp; sign-off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Partition &amp; ceiling -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(3/5)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ceiling - boarding &amp; services integration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close-out inspection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works - Phase II (indoor units &amp; diffusers)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 - Phase II (termination &amp; racks)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Active networking &amp; IT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testing &amp; balancing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plaster &amp; POP punning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works - tile, marble, wooden &amp; carpet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Reception, display &amp; water-body 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Cafeteria &amp; pantry 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 - Phase II (heads, detectors &amp; PA system)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works - Phase II (sanitaryware &amp; fixtures)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system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&amp; IT integration testing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ironmongery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(4/5)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works - primer &amp; first coat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 - Phase II (fixtures, switches &amp; light fixtures)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Access control &amp; CCTV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life-safety system testing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Integrated systems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 documentation &amp; training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 application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 &amp; wayfinding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works - final coat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TW.1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 (cubicles, cladding, ceiling &amp; sanitaryware)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Snagging &amp; de-snagging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(5/5)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Final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handover - Phase 2 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Milestone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(1/4)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Issue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(2/4)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Issue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(3/4)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Issue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(4/4)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Issue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 (1/2)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consumables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 (client approval 2026-07-13)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boards/ply (Gyproc/ply norms)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partitions (partition glass norm)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 (client approval 2026-09-24)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 (frosting norm)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 (client approval 2026-08-12)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switchgear/cabling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 (client approval 2026-08-20)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 (client approval 2026-08-20)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 (2/2)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 (client approval 2026-09-04)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 (client approval 2026-08-20)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 (client approval 2026-08-20)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Dishwash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Kitchen Equipments &amp; Others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Manpower — levelled contractor gangs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737360"/>
                <a:gridCol w="1737360"/>
                <a:gridCol w="1188720"/>
                <a:gridCol w="1463040"/>
                <a:gridCol w="14630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From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To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Man-days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Core gang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Peak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billing milestones — readiness against site progress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MILESTONES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6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20624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434340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CLAUSES TRACKED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34340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59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5528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4" name="Text 12"/>
          <p:cNvSpPr/>
          <p:nvPr/>
        </p:nvSpPr>
        <p:spPr>
          <a:xfrm>
            <a:off x="809244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09244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5,70,04,000</a:t>
            </a:r>
            <a:endParaRPr lang="en-US" sz="17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Amount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ADV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1,71,01,200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1,14,00,800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28,50,200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(1/4)</a:t>
            </a:r>
            <a:endParaRPr lang="en-US" sz="2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ADV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line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Frameworks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Single-side skinning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wall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Plastering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electrical conduiting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raceway laying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sheets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conduits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Siporex blocks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(2/4)</a:t>
            </a:r>
            <a:endParaRPr lang="en-US" sz="2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alarm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Closing of partitions from double side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wiring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piping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FAS wiring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 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Wires/cables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Ply for carpentry items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Vitrified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base-coat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(3/4)</a:t>
            </a:r>
            <a:endParaRPr lang="en-US" sz="2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channel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duct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fittings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DB/MCB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elements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Canvas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Branding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switches/sockets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structures ready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(4/4)</a:t>
            </a:r>
            <a:endParaRPr lang="en-US" sz="2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Flush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First coat of paint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Before HVAC final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Before LV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Before chair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against unconditional bank guarantee of equal amount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Valid for 6 months Defects Liability Period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Resource plan</a:t>
            </a:r>
            <a:endParaRPr lang="en-US" sz="2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91440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Role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Basis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Manager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 (Civil/Interior)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12000)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25000)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 Owner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Safety Officer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QC / Snag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(1/4)</a:t>
            </a:r>
            <a:endParaRPr lang="en-US" sz="2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Civil breaking / hard demolition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Debris segregation &amp; stacking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Debris removal &amp; disposal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Plumbing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FLSS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Dishwash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Removal of existing flooring &amp; floor chipping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PCC &amp; self-levelling screed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(2/4)</a:t>
            </a:r>
            <a:endParaRPr lang="en-US" sz="2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Joint survey of cleared shell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Cleared shell handover - Phase 1 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Site deep cleaning &amp; dust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Setting out &amp; marking as per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(3/4)</a:t>
            </a:r>
            <a:endParaRPr lang="en-US" sz="2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(4/4)</a:t>
            </a:r>
            <a:endParaRPr lang="en-US" sz="2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AAC block masonry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Gypsum partition framing &amp; ply backing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Self-levelling screed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(1/2)</a:t>
            </a:r>
            <a:endParaRPr lang="en-US" sz="2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(2/2)</a:t>
            </a:r>
            <a:endParaRPr lang="en-US" sz="22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(1/3)</a:t>
            </a:r>
            <a:endParaRPr lang="en-US" sz="2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carpentry: 432 man-days across 21 working days needs 21 workers, above the 16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 curve is peaky (average 34 vs peak 72). Consider re-sequencing overlapping trades.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"Kitchen Equipments &amp; Others"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A2: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A3: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A4: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A5: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(2/3)</a:t>
            </a:r>
            <a:endParaRPr lang="en-US" sz="2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A6: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A7: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A8: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B1: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B2: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B3: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C1: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C2: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(3/3)</a:t>
            </a:r>
            <a:endParaRPr lang="en-US" sz="2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D1: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E1: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F1: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G: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H1: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H2: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2026-07-29T16:19:48Z</dcterms:created>
  <dcterms:modified xsi:type="dcterms:W3CDTF">2026-07-29T16:19:48Z</dcterms:modified>
</cp:coreProperties>
</file>