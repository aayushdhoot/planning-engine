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notesMasterIdLst>
    <p:notesMasterId r:id="rId3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notesMaster" Target="notesMasters/notesMaster1.xml"/><Relationship Id="rId35" Type="http://schemas.openxmlformats.org/officeDocument/2006/relationships/presProps" Target="presProps.xml"/><Relationship Id="rId36" Type="http://schemas.openxmlformats.org/officeDocument/2006/relationships/viewProps" Target="viewProps.xml"/><Relationship Id="rId37" Type="http://schemas.openxmlformats.org/officeDocument/2006/relationships/theme" Target="theme/theme1.xml"/><Relationship Id="rId3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</a:rPr>
              <a:t>INTERNAL — NOT FOR CLIENT ISSUE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173736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4181F"/>
                </a:solidFill>
              </a:rPr>
              <a:t>KOHLER OS, Pune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548640" y="25603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2"/>
                </a:solidFill>
              </a:rPr>
              <a:t>Kohler India Corporation Pvt. Ltd.  ·  7th Floor (7A), ITC, Pune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30175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1121F"/>
                </a:solidFill>
              </a:rPr>
              <a:t>Execution Plan  ·  confidence 98%  ·  norms norms-v1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6217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2"/>
                </a:solidFill>
              </a:rPr>
              <a:t>DnB Planning Engine v1.0.0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Position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960120"/>
            <a:ext cx="17373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6" name="Text 4"/>
          <p:cNvSpPr/>
          <p:nvPr/>
        </p:nvSpPr>
        <p:spPr>
          <a:xfrm>
            <a:off x="594360" y="1033272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INTERNAL TARGET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594360" y="1252728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2026-11-03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594360" y="1618488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</a:rPr>
              <a:t>120 wd (CPM)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2331720" y="960120"/>
            <a:ext cx="17373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33172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11" name="Text 9"/>
          <p:cNvSpPr/>
          <p:nvPr/>
        </p:nvSpPr>
        <p:spPr>
          <a:xfrm>
            <a:off x="2468880" y="1033272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CONTRACT FINISH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2468880" y="1252728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2026-11-04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4206240" y="960120"/>
            <a:ext cx="17373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20624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15" name="Text 13"/>
          <p:cNvSpPr/>
          <p:nvPr/>
        </p:nvSpPr>
        <p:spPr>
          <a:xfrm>
            <a:off x="4343400" y="1033272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BUFFER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4343400" y="1252728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1d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4343400" y="1618488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</a:rPr>
              <a:t>invariant holds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6080760" y="960120"/>
            <a:ext cx="17373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08076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20" name="Text 18"/>
          <p:cNvSpPr/>
          <p:nvPr/>
        </p:nvSpPr>
        <p:spPr>
          <a:xfrm>
            <a:off x="6217920" y="1033272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CRITICAL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6217920" y="1252728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30 / 66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6217920" y="1618488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</a:rPr>
              <a:t>zero float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7955280" y="960120"/>
            <a:ext cx="17373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95528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25" name="Text 23"/>
          <p:cNvSpPr/>
          <p:nvPr/>
        </p:nvSpPr>
        <p:spPr>
          <a:xfrm>
            <a:off x="8092440" y="1033272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PEAK MANPOWER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8092440" y="1252728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72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8092440" y="1618488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</a:rPr>
              <a:t>2026-09-25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9829800" y="960120"/>
            <a:ext cx="17373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82980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0" name="Text 28"/>
          <p:cNvSpPr/>
          <p:nvPr/>
        </p:nvSpPr>
        <p:spPr>
          <a:xfrm>
            <a:off x="9966960" y="1033272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MARGIN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9966960" y="1252728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—</a:t>
            </a:r>
            <a:endParaRPr lang="en-US" sz="1700" dirty="0"/>
          </a:p>
        </p:txBody>
      </p:sp>
      <p:sp>
        <p:nvSpPr>
          <p:cNvPr id="32" name="Text 30"/>
          <p:cNvSpPr/>
          <p:nvPr/>
        </p:nvSpPr>
        <p:spPr>
          <a:xfrm>
            <a:off x="9966960" y="1618488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</a:rPr>
              <a:t>6 RA milestones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457200" y="210312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2"/>
                </a:solidFill>
              </a:rPr>
              <a:t>Confidence basis: 9/9 inputs provided; 1/19 packages unmapped; buffer 1d.</a:t>
            </a:r>
            <a:endParaRPr lang="en-US" sz="1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468880"/>
          <a:ext cx="11247120" cy="914400"/>
        </p:xfrm>
        <a:graphic>
          <a:graphicData uri="http://schemas.openxmlformats.org/drawingml/2006/table">
            <a:tbl>
              <a:tblPr/>
              <a:tblGrid>
                <a:gridCol w="4846320"/>
                <a:gridCol w="2194560"/>
                <a:gridCol w="219456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On critical path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Mobilisation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YES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Survey &amp; Make-Safe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YES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Demolition &amp; Dismantling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YES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Debris Removal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YES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Clearance &amp; 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YES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Milestone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2026-11-03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YES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YES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Services - Phase I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YES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YES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Services - Phase II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YES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IT, AV &amp; Signage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YES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&amp; 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2026-11-03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YES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YES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Joinery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YES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Toilet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Critical path — 30 activities, zero float (1/3)</a:t>
            </a:r>
            <a:endParaRPr lang="en-US" sz="2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5029200"/>
                <a:gridCol w="1463040"/>
                <a:gridCol w="822960"/>
                <a:gridCol w="1600200"/>
                <a:gridCol w="16002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Trade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mobilisation &amp; access setup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Existing condition / dilapidation survey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2.3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Hazardous material check &amp; clearance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2.4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Disconnection &amp; isolation of existing services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Dismantling of false ceiling &amp; services below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3.2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Dismantling of partitions, glazing &amp; doors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3.6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breaking / hard demolition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Debris segregation &amp; stacking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4.2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Debris removal &amp; disposal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PCC &amp; self-levelling screed preparation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5.2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deep cleaning &amp; dust clearance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cleaning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5.3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Joint survey of cleared shell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5.4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Cleared shell handover - Phase 1 completion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Setting out &amp; marking as per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Critical path — 30 activities, zero float (2/3)</a:t>
            </a:r>
            <a:endParaRPr lang="en-US" sz="2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5029200"/>
                <a:gridCol w="1463040"/>
                <a:gridCol w="822960"/>
                <a:gridCol w="1600200"/>
                <a:gridCol w="16002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Trade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6.3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Gypsum partition framing &amp; ply backing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works - Phase I (ducting &amp; piping)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7.2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works - Phase I (conduiting &amp; cabling)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7.5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Passive networking - Phase I (cable laying)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7.7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Services Phase-I inspection &amp; sign-off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Gypsum board Partition &amp; ceiling - framing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8.2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Gypsum board ceiling - boarding &amp; services integration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8.3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 close-out inspection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9.2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Flooring works - tile, marble, wooden &amp; carpet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Reception, display &amp; water-body joinery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AV system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14.4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AV &amp; IT integration testing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works - Phase II (fixtures, switches &amp; light fixtures)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14.2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testing &amp; commissioning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Critical path — 30 activities, zero float (3/3)</a:t>
            </a:r>
            <a:endParaRPr lang="en-US" sz="2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5029200"/>
                <a:gridCol w="1463040"/>
                <a:gridCol w="822960"/>
                <a:gridCol w="1600200"/>
                <a:gridCol w="16002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Trade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14.6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Integrated systems commissioning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14.9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Handover documentation &amp; training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2026-11-03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(1/5)</a:t>
            </a:r>
            <a:endParaRPr lang="en-US" sz="2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mobilisation &amp; access setup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Mobilisation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1.2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Hoarding, barricading &amp; signages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Mobilisation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1.3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HSE setup, permits &amp; site induction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Mobilisation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1.4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Temporary power, water &amp; lighting arrangement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Mobilisation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Existing condition / dilapidation survey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Survey &amp; Make-Safe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2.2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Existing services mapping &amp; tagging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Survey &amp; Make-Safe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2.3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Hazardous material check &amp; clearance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Survey &amp; Make-Safe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2.4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Disconnection &amp; isolation of existing services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Survey &amp; Make-Safe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Dismantling of false ceiling &amp; services below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Demolition &amp; Dismantling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3.2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Dismantling of partitions, glazing &amp; doors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Demolition &amp; Dismantling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3.3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Removal of existing flooring &amp; floor chipping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Demolition &amp; Dismantling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3.4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Dismantling of joinery, pantry &amp; fixtures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Demolition &amp; Dismantling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3.5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Dismantling of existing services (cable, duct, pipe)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Demolition &amp; Dismantling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3.6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breaking / hard demolition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Demolition &amp; Dismantling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Debris segregation &amp; stacking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Debris Removal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4.2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Debris removal &amp; disposal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Debris Removal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(2/5)</a:t>
            </a:r>
            <a:endParaRPr lang="en-US" sz="2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PCC &amp; self-levelling screed preparation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Clearance &amp; 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5.2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deep cleaning &amp; dust clearance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Clearance &amp; 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5.3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Joint survey of cleared shell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Clearance &amp; 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5.4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Cleared shell handover - Phase 1 completion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Milestone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Setting out &amp; marking as per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6.2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AAC block masonry work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6.3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Gypsum partition framing &amp; ply backing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6.4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Self-levelling screed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6.5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Waterproofing - wet areas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works - Phase I (ducting &amp; piping)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Services - Phase I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7.2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works - Phase I (conduiting &amp; cabling)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Services - Phase I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7.3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FLSS works - Phase I (sprinkler piping &amp; rough-in)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Services - Phase I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7.4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PHE works - Phase I (drainage &amp; water lines)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Services - Phase I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7.5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Passive networking - Phase I (cable laying)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Services - Phase I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7.7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Services Phase-I inspection &amp; sign-off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Services - Phase I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Gypsum board Partition &amp; ceiling - framing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(3/5)</a:t>
            </a:r>
            <a:endParaRPr lang="en-US" sz="2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8.2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Gypsum board ceiling - boarding &amp; services integration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8.3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 close-out inspection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11.2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works - Phase II (indoor units &amp; diffusers)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Services - Phase II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11.5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Passive networking - Phase II (termination &amp; racks)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Services - Phase II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12.3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Active networking &amp; IT commissioning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IT, AV &amp; Signage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testing &amp; balancing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&amp; 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Gypsum plaster &amp; POP punning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9.2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Flooring works - tile, marble, wooden &amp; carpet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Reception, display &amp; water-body joinery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Joinery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10.2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Cafeteria &amp; pantry joinery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Joinery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11.3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FLSS works - Phase II (heads, detectors &amp; PA system)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Services - Phase II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11.4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PHE works - Phase II (sanitaryware &amp; fixtures)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Services - Phase II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AV system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IT, AV &amp; Signage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14.4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AV &amp; IT integration testing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&amp; 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9.3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glass partitions &amp; doors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10.3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Doors &amp; ironmongery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Joinery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(4/5)</a:t>
            </a:r>
            <a:endParaRPr lang="en-US" sz="2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12.5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Blinds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IT, AV &amp; Signage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9.4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Painting works - primer &amp; first coat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works - Phase II (fixtures, switches &amp; light fixtures)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Services - Phase II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12.2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Access control &amp; CCTV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IT, AV &amp; Signage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14.2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testing &amp; commissioning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&amp; 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14.3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&amp; life-safety system testing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&amp; 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14.6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Integrated systems commissioning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&amp; 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14.9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Handover documentation &amp; training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&amp; 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2026-11-03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9.5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Graphics &amp; films application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10.4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Planters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Joinery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12.4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Signage &amp; wayfinding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IT, AV &amp; Signage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9.6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Painting works - final coat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13.1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furniture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13.2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Loose furniture &amp; chairs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TW.1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Toilet works (cubicles, cladding, ceiling &amp; sanitaryware)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Toilet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14.7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Snagging &amp; de-snagging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&amp; 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(5/5)</a:t>
            </a:r>
            <a:endParaRPr lang="en-US" sz="2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14.8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Final cleaning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&amp; 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14.10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handover - Phase 2 completion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Milestone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2026-11-03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2026-11-03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tracker — GFC / MEP / Sampling (1/4)</a:t>
            </a:r>
            <a:endParaRPr lang="en-US" sz="22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371600"/>
                <a:gridCol w="3566160"/>
                <a:gridCol w="1188720"/>
                <a:gridCol w="1097280"/>
                <a:gridCol w="1097280"/>
                <a:gridCol w="100584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Drawing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Issue (INT)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(client)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Base Build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 Dimensions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Marking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Raised Flooring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Door Schedule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Wall Finishes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RCP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Lighting Layout (with dimensions)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Wallpaper &amp; Graphics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Evacuation Plan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 Views — Detailed &amp; Client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tracker — GFC / MEP / Sampling (2/4)</a:t>
            </a:r>
            <a:endParaRPr lang="en-US" sz="22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371600"/>
                <a:gridCol w="3566160"/>
                <a:gridCol w="1188720"/>
                <a:gridCol w="1097280"/>
                <a:gridCol w="1097280"/>
                <a:gridCol w="100584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Drawing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Issue (INT)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(client)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SLD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Load Calculation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Power, Data &amp; Switch Board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Raceway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Cable Tray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Lighting Looping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Panel &amp; DB Position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UPS Calculation &amp; Specification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Heat Load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PHE DBR &amp; Plumbing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Sprinkler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FA / PA System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tracker — GFC / MEP / Sampling (3/4)</a:t>
            </a:r>
            <a:endParaRPr lang="en-US" sz="22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371600"/>
                <a:gridCol w="3566160"/>
                <a:gridCol w="1188720"/>
                <a:gridCol w="1097280"/>
                <a:gridCol w="1097280"/>
                <a:gridCol w="100584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Drawing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Issue (INT)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(client)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ACS / CCTV / WiFi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Demountable Glass Partition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Backpainted Glass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Switch Sockets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Decorative Lights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Sanitary Fixtures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Chairs &amp; Loose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Blinds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tracker — GFC / MEP / Sampling (4/4)</a:t>
            </a:r>
            <a:endParaRPr lang="en-US" sz="22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371600"/>
                <a:gridCol w="3566160"/>
                <a:gridCol w="1188720"/>
                <a:gridCol w="1097280"/>
                <a:gridCol w="1097280"/>
                <a:gridCol w="100584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Drawing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Issue (INT)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(client)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Skirting &amp; T Profile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Procurement — order-by and delivery required (1/2)</a:t>
            </a:r>
            <a:endParaRPr lang="en-US" sz="22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828800"/>
                <a:gridCol w="1280160"/>
                <a:gridCol w="1188720"/>
                <a:gridCol w="1463040"/>
                <a:gridCol w="1188720"/>
                <a:gridCol w="22860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Order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Delivery required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Order 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Gated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consumables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Base Build Layout (client approval 2026-07-13)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Interior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Interior boards/ply (Gyproc/ply norms)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Glass Partitions &amp; Doors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Glass partitions (partition glass norm)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Demountable Glass Partition (client approval 2026-09-24)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Signages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Signages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Graphics &amp; Films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Graphics &amp; films (frosting norm)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Blinds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Blinds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Planters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Planters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Toilet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default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Flooring Layout (client approval 2026-08-12)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Loose Furniture &amp; Chairs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Loose furniture &amp; chairs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switchgear/cabling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Lighting Layout (with dimensions) (client approval 2026-08-20)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Light Fixtures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Light fixtures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default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DBR (client approval 2026-08-20)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Procurement — order-by and delivery required (2/2)</a:t>
            </a:r>
            <a:endParaRPr lang="en-US" sz="22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828800"/>
                <a:gridCol w="1280160"/>
                <a:gridCol w="1188720"/>
                <a:gridCol w="1463040"/>
                <a:gridCol w="1188720"/>
                <a:gridCol w="22860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Order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Delivery required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Order 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Gated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Passive Networking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default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FA / PA System Layout (client approval 2026-09-04)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Plumbing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default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PHE DBR &amp; Plumbing Layout (client approval 2026-08-20)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FLSS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default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Sprinkler Layout (client approval 2026-08-20)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Dishwash 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default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Kitchen Equipments &amp; Others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default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Manpower — levelled contractor gangs</a:t>
            </a:r>
            <a:endParaRPr lang="en-US" sz="22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737360"/>
                <a:gridCol w="1737360"/>
                <a:gridCol w="1188720"/>
                <a:gridCol w="1463040"/>
                <a:gridCol w="1463040"/>
                <a:gridCol w="12801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Trade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From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To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Days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Man-days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Core gang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Peak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432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560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cleaning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370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198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2026-11-03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glass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336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plumbing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132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sprinkler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RA billing milestones — readiness against site progress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960120"/>
            <a:ext cx="36118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6" name="Text 4"/>
          <p:cNvSpPr/>
          <p:nvPr/>
        </p:nvSpPr>
        <p:spPr>
          <a:xfrm>
            <a:off x="594360" y="1033272"/>
            <a:ext cx="3429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MILESTONES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594360" y="1252728"/>
            <a:ext cx="3429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6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4206240" y="960120"/>
            <a:ext cx="36118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20624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10" name="Text 8"/>
          <p:cNvSpPr/>
          <p:nvPr/>
        </p:nvSpPr>
        <p:spPr>
          <a:xfrm>
            <a:off x="4343400" y="1033272"/>
            <a:ext cx="3429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CLAUSES TRACKED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4343400" y="1252728"/>
            <a:ext cx="3429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59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955280" y="960120"/>
            <a:ext cx="36118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95528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14" name="Text 12"/>
          <p:cNvSpPr/>
          <p:nvPr/>
        </p:nvSpPr>
        <p:spPr>
          <a:xfrm>
            <a:off x="8092440" y="1033272"/>
            <a:ext cx="3429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CONTRACT VALUE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092440" y="1252728"/>
            <a:ext cx="3429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INR 5,70,04,000</a:t>
            </a:r>
            <a:endParaRPr lang="en-US" sz="17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194560"/>
          <a:ext cx="1124712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1874520"/>
                <a:gridCol w="1874520"/>
                <a:gridCol w="1874520"/>
                <a:gridCol w="1874520"/>
                <a:gridCol w="18745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Amount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Clauses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ADV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30%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1,71,01,200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1,14,00,800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85,50,600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85,50,600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85,50,600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2026-11-04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28,50,200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RA milestone clauses — what must be true before billing (1/4)</a:t>
            </a:r>
            <a:endParaRPr lang="en-US" sz="22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280160"/>
                <a:gridCol w="5669280"/>
                <a:gridCol w="1737360"/>
                <a:gridCol w="16459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Kind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Clause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Planned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ADV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mobilisation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Demolition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 line marking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Frameworks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Single-side skinning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wall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Plastering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Plumbing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Wall electrical conduiting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raceway laying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Gypsum frames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Gypsum sheets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conduits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Raceway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Siporex blocks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RA milestone clauses — what must be true before billing (2/4)</a:t>
            </a:r>
            <a:endParaRPr lang="en-US" sz="22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280160"/>
                <a:gridCol w="5669280"/>
                <a:gridCol w="1737360"/>
                <a:gridCol w="16459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Kind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Clause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Planned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order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order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alarm system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order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Closing of partitions from double side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wiring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sprinkler piping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FAS wiring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Duct 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Wires/cables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Ply for carpentry items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Vitrified tiles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order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order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Chairs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order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order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Glass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Painting base-coat preparation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RA milestone clauses — what must be true before billing (3/4)</a:t>
            </a:r>
            <a:endParaRPr lang="en-US" sz="22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280160"/>
                <a:gridCol w="5669280"/>
                <a:gridCol w="1737360"/>
                <a:gridCol w="16459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Kind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Clause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Planned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Glass channel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duct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False ceiling framing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Sanitary fittings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Fixtures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Doors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DB/MCB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order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Decorative elements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order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Glass films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order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Wallpapers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order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Canvas frames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order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Branding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switches/sockets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Sanitary fixtures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structures ready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RA milestone clauses — what must be true before billing (4/4)</a:t>
            </a:r>
            <a:endParaRPr lang="en-US" sz="22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280160"/>
                <a:gridCol w="5669280"/>
                <a:gridCol w="1737360"/>
                <a:gridCol w="16459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Kind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Clause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Planned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Flush doors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First coat of paint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False 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Before HVAC final commissioning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Before LV commissioning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furniture on site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on site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Before chair delivery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order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Deep cleaning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against unconditional bank guarantee of equal amount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2026-11-04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Valid for 6 months Defects Liability Period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2026-11-04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Resource plan</a:t>
            </a:r>
            <a:endParaRPr lang="en-US" sz="22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914400"/>
                <a:gridCol w="72237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Role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Count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Basis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Manager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ceil(14905 sft / 40000) per norms-v1:resourceRoleNorms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Engineer (Civil/Interior)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ceil(14905 sft / 12000) per norms-v1:resourceRoleNorms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Engineer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ceil(14905 sft / 25000) per norms-v1:resourceRoleNorms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ceil(14905 sft / 40000) per norms-v1:resourceRoleNorms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 Owner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ceil(14905 sft / 40000) per norms-v1:resourceRoleNorms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Safety Officer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ceil(14905 sft / 30000) per norms-v1:resourceRoleNorms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QC / Snag Engineer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ceil(14905 sft / 30000) per norms-v1:resourceRoleNorms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(1/4)</a:t>
            </a:r>
            <a:endParaRPr lang="en-US" sz="22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Carpet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Civil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Base Build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Electrical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Interior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 progress: Civil breaking / hard demolition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 progress: Debris segregation &amp; stacking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Debris removal &amp; disposal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Plumbing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FLSS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Dishwash 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Removal of existing flooring &amp; floor chipping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PCC &amp; self-levelling screed preparation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Toilet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(2/4)</a:t>
            </a:r>
            <a:endParaRPr lang="en-US" sz="22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Joint survey of cleared shell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Cleared shell handover - Phase 1 completion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Carpet / SPC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Raised Flooring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 and Dado Tiles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cleaning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Site deep cleaning &amp; dust clearance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Setting out &amp; marking as per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 Marking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Modular Glass Partitions &amp; Doors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Fire Sprinkler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Modular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Passive Networking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Lighting Layout (with dimensions)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Electrical SLD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(3/4)</a:t>
            </a:r>
            <a:endParaRPr lang="en-US" sz="22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Electrical Load Calculation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Power, Data &amp; Switch Board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UPS Calculation &amp; Specification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HVAC Heat Load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HVAC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Decorative Lights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Wallpaper &amp; Graphics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Fire Evacuation Plan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Electrical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Raceway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Cable Tray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Lighting Looping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Panel &amp; DB Position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HVAC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PHE DBR &amp; Plumbing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(4/4)</a:t>
            </a:r>
            <a:endParaRPr lang="en-US" sz="22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Switch Sockets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Sanitary Fixtures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Blinds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Graphics &amp; Films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Skirting &amp; T Profile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AAC block masonry work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RCP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Grid &amp; Stretch 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Gypsum partition framing &amp; ply backing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flooring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Self-levelling screed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Client / builder open points (1/2)</a:t>
            </a:r>
            <a:endParaRPr lang="en-US" sz="220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1554480"/>
                <a:gridCol w="4572000"/>
                <a:gridCol w="1828800"/>
                <a:gridCol w="1371600"/>
                <a:gridCol w="12801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Plan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Kick Off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kick-off meeting and pooja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Client/FS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Commercial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PO / signed agreement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Commercial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advance payment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Layout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 approvals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 sampling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Client/FS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Pending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drawings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Client/PMC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Pending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/ IT requirement and load confirmation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Pending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 permissions and mobilisation clearance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FS/Builder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Mathadi clearance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NOC / CFO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FS/Builder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Pending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BMC / statutory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FS/Builder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Temporary power and water availability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Pending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Lift availability for material movement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Work hours clarity in building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Client / builder open points (2/2)</a:t>
            </a:r>
            <a:endParaRPr lang="en-US" sz="22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1554480"/>
                <a:gridCol w="4572000"/>
                <a:gridCol w="1828800"/>
                <a:gridCol w="1371600"/>
                <a:gridCol w="12801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Plan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Heat load approval / CFM availability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Pending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Wi-Fi and access point locations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Pending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vendor closure for site marking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Design/Operation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Client-supplied items (IT / AV) delivery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Pending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Store space and debris removal 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Assumptions, gaps and risks (1/3)</a:t>
            </a:r>
            <a:endParaRPr lang="en-US" sz="220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7955280"/>
                <a:gridCol w="1828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Note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Visibility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manpower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carpentry: 432 man-days across 21 working days needs 21 workers, above the 16 cap. Extend the window, split the front, or raise the cap in Settings.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manpower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Manpower curve is peaky (average 34 vs peak 72). Consider re-sequencing overlapping trades.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"Kitchen Equipments &amp; Others" has no mapped site activity; order-by date not computed.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billing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A1: BCS cost missing; margin for it assumed at the 28% norm from the BOQ_BCS margin column.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billing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A2: BCS cost missing; margin for it assumed at the 28% norm from the BOQ_BCS margin column.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billing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A3: BCS cost missing; margin for it assumed at the 28% norm from the BOQ_BCS margin column.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billing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A4: BCS cost missing; margin for it assumed at the 28% norm from the BOQ_BCS margin column.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billing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A5: BCS cost missing; margin for it assumed at the 28% norm from the BOQ_BCS margin column.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Assumptions, gaps and risks (2/3)</a:t>
            </a:r>
            <a:endParaRPr lang="en-US" sz="220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7955280"/>
                <a:gridCol w="1828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Note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Visibility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billing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A6: BCS cost missing; margin for it assumed at the 28% norm from the BOQ_BCS margin column.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billing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A7: BCS cost missing; margin for it assumed at the 28% norm from the BOQ_BCS margin column.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billing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A8: BCS cost missing; margin for it assumed at the 28% norm from the BOQ_BCS margin column.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billing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B1: BCS cost missing; margin for it assumed at the 28% norm from the BOQ_BCS margin column.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billing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B2: BCS cost missing; margin for it assumed at the 28% norm from the BOQ_BCS margin column.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billing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B3: BCS cost missing; margin for it assumed at the 28% norm from the BOQ_BCS margin column.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billing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C1: BCS cost missing; margin for it assumed at the 28% norm from the BOQ_BCS margin column.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billing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C2: BCS cost missing; margin for it assumed at the 28% norm from the BOQ_BCS margin column.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Assumptions, gaps and risks (3/3)</a:t>
            </a:r>
            <a:endParaRPr lang="en-US" sz="220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7955280"/>
                <a:gridCol w="1828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Note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Visibility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billing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D1: BCS cost missing; margin for it assumed at the 28% norm from the BOQ_BCS margin column.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billing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E1: BCS cost missing; margin for it assumed at the 28% norm from the BOQ_BCS margin column.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billing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F1: BCS cost missing; margin for it assumed at the 28% norm from the BOQ_BCS margin column.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billing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G: BCS cost missing; margin for it assumed at the 28% norm from the BOQ_BCS margin column.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billing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H1: BCS cost missing; margin for it assumed at the 28% norm from the BOQ_BCS margin column.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billing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H2: BCS cost missing; margin for it assumed at the 28% norm from the BOQ_BCS margin column.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32</Slides>
  <Notes>32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2026-07-29T16:48:39Z</dcterms:created>
  <dcterms:modified xsi:type="dcterms:W3CDTF">2026-07-29T16:48:39Z</dcterms:modified>
</cp:coreProperties>
</file>