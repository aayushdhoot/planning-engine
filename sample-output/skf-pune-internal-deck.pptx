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SKF,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SKF India (Industrial) Ltd  ·  Units 801–802, 8th Floor, Millennium Tower 3, Wakad,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84%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Position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INTERNAL TARGET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2026-08-14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68 wd (CPM)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33172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172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FINISH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46888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2026-08-22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20624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BUFFER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4340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8d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34340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invariant holds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8076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CRITICAL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1792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9 / 69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21792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zero float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95528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5" name="Text 23"/>
          <p:cNvSpPr/>
          <p:nvPr/>
        </p:nvSpPr>
        <p:spPr>
          <a:xfrm>
            <a:off x="809244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PEAK MANPOWER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09244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124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9244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2026-07-25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98298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298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99669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MARGIN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99669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27.5%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9669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 RA milestones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</a:rPr>
              <a:t>Confidence basis: 7/9 inputs provided; 3/18 packages unmapped; buffer 8d.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68880"/>
          <a:ext cx="112471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194560"/>
                <a:gridCol w="219456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On critical path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9 activities, zero float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&amp; Dilapidation Report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Blockwork, AAC Blocks &amp; 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Trunking &amp;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Conduiting &amp; Switch/Point Back-boxes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Point Wiring, Circuits, Mains &amp; DB's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LT Panel Labeling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Installation —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 List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(1/5)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&amp; Dilapidation Report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Blockwork, AAC Blocks &amp; 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100mm Partition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Panelling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Wall Punning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Column Cladding (Ply/Gypsum)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Cable Trays, Trunking &amp; MS Supports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Trunking &amp;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Metal / Fire-rated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Designer Ceiling — Laminate 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 Baffle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Conduiting &amp; Switch/Point Back-boxes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(2/5)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Point Wiring, Circuits, Mains &amp; DB's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LT Panel Labeling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Installation —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Sheet Ducting Fabrication &amp;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 Light Testing (Pre-insulation)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Thermal &amp; Acoustic Insulation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Grilles, Diffusers, Fire Dampers &amp; Actuators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Battery Room Ventilation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Refrigerant Piping &amp; Cable Trays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Indoor Units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VRV Requirements and ODUs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C-Class Sprinkler Piping (Grooved)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Alarm Valve Assembly &amp; Flow Switch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Pendent/Upright Sprinklers &amp; Flexible Drops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(3/5)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Red/Black Armored Cabling (FAS/PA/CCTV)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Detectors, Hooters &amp; PAVA Rack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EM Locks, Biometric Readers &amp; CCTV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Emergency Exit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Rodent Repellent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 Leak Detection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Flush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 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Internal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Walls (Putty + Paint)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Acoustical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Manager/Meeting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 Box / OHU / File Storage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(4/5)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 (Floor + Walls 600mm)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Frosting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Vinyl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Logo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Rolling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 &amp;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Sun Control Film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Anti-termite &amp; Pest Control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Self Leveling &amp; Associated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Vitrified Tile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POP on Flooring (Protection)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WS / Meeting Room Chair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(5/5)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Aluminium Skirting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 List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(1/7)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(2/7)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(3/7)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(4/7)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(5/7)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(6/7)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(7/7)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(1/2)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consumables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 (client approval 2026-06-20)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boards/ply (Gyproc/ply norms)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 (client approval 2026-06-22)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partitions (partition glass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 (client approval 2026-07-07)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 (frosting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 (client approval 2026-07-24)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switchgear/cabling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 (client approval 2026-06-29)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(2/2)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(ducting, VRF, VAV)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 (client approval 2026-07-03)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 (client approval 2026-06-26)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Manpower — levelled contractor gangs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737360"/>
                <a:gridCol w="1188720"/>
                <a:gridCol w="1463040"/>
                <a:gridCol w="14630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From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To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Man-days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Core gang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Peak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990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billing milestones — readiness against site progress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MILESTONES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6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CLAUSES TRACKED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4340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27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5528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4" name="Text 12"/>
          <p:cNvSpPr/>
          <p:nvPr/>
        </p:nvSpPr>
        <p:spPr>
          <a:xfrm>
            <a:off x="809244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09244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8,21,00,400</a:t>
            </a:r>
            <a:endParaRPr lang="en-US" sz="17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1,64,20,080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41,05,020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(1/2)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 (no advance payable)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Frameworks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walls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Gypsum/electrical material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closing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FAS 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Duct/cable/ply/tile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Furniture/carpet/glass orders closed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base coats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channels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(2/2)</a:t>
            </a:r>
            <a:endParaRPr lang="en-US" sz="2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Carpet/sanitary/doors/DB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First paint coat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Pre-commissioning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Against 12-month DLP bank guarantee at virtual completion/handover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Resource plan</a:t>
            </a:r>
            <a:endParaRPr lang="en-US" sz="2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91440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Role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Basis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Manager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 (Civil/Interior)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12000)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25000)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 Owner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Safety Officer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QC / Snag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(1/11)</a:t>
            </a:r>
            <a:endParaRPr lang="en-US" sz="2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(2/11)</a:t>
            </a:r>
            <a:endParaRPr lang="en-US" sz="2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resource allocation confirmed (PM, site engineer, MEP, design, procurement)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tool creation — tracker, folder structure and access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WhatsApp group creation with the agreed participants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Wispr onboarding for the project team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Welcome email issued to the client with team and escalation matrix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verification against the GFC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Building permissions, gate pass and work permits obtained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Day-0 site photographs and dilapidation record filed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completed and signed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Labour onboarding, ID cards and safety induction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(3/11)</a:t>
            </a:r>
            <a:endParaRPr lang="en-US" sz="2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Kick-off meeting with the client and consultants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power, water and site lighting arranged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(4/11)</a:t>
            </a:r>
            <a:endParaRPr lang="en-US" sz="2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(5/11)</a:t>
            </a:r>
            <a:endParaRPr lang="en-US" sz="2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(6/11)</a:t>
            </a:r>
            <a:endParaRPr lang="en-US" sz="2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(7/11)</a:t>
            </a:r>
            <a:endParaRPr lang="en-US" sz="2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(8/11)</a:t>
            </a:r>
            <a:endParaRPr lang="en-US" sz="2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(9/11)</a:t>
            </a:r>
            <a:endParaRPr lang="en-US" sz="2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Detectors, Hooters &amp; PAVA Rack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Rodent Repellent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Water Leak Detection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GI Conduiting &amp; Switch/Point Back-boxes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Grilles, Diffusers, Fire Dampers &amp; Actuators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Carpet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HVAC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Emergency Exit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LT Panel Labeling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Back 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Panel Installation —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Frosting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Vinyl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Wallpaper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Sun Control Film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(10/11)</a:t>
            </a:r>
            <a:endParaRPr lang="en-US" sz="2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Manager/Meeting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Planter Box / OHU / File Storage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Logo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Raised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Point Wiring, Circuits, Mains &amp; DB's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Ceiling 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Rolling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Planters &amp;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Alarm Valve Assembly &amp; Flow Switch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Modular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Signage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Internal Walls (Putty + Paint)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WS / Meeting Room Chair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(11/11)</a:t>
            </a:r>
            <a:endParaRPr lang="en-US" sz="2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Snag List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(1/2)</a:t>
            </a:r>
            <a:endParaRPr lang="en-US" sz="2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(2/2)</a:t>
            </a:r>
            <a:endParaRPr lang="en-US" sz="2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(1/2)</a:t>
            </a:r>
            <a:endParaRPr lang="en-US" sz="2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ceiling: 200 man-days across 14 working days needs 15 workers, above the 14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electrical: 990 man-days across 57 working days needs 18 workers, above the 14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hvac: 544 man-days across 27 working days needs 21 workers, above the 12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lv: 336 man-days across 20 working days needs 17 workers, above the 10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partition: 360 man-days across 19 working days needs 19 workers, above the 18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"Light Fixtures"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"UPS"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"Passive Networking"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(2/2)</a:t>
            </a:r>
            <a:endParaRPr lang="en-US" sz="2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HVAC: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2026-07-29T17:00:08Z</dcterms:created>
  <dcterms:modified xsi:type="dcterms:W3CDTF">2026-07-29T17:00:08Z</dcterms:modified>
</cp:coreProperties>
</file>